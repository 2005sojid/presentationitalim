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4"/>
  </p:notesMasterIdLst>
  <p:sldIdLst>
    <p:sldId id="256" r:id="rId2"/>
    <p:sldId id="260" r:id="rId3"/>
    <p:sldId id="261" r:id="rId4"/>
    <p:sldId id="262" r:id="rId5"/>
    <p:sldId id="257" r:id="rId6"/>
    <p:sldId id="264" r:id="rId7"/>
    <p:sldId id="265" r:id="rId8"/>
    <p:sldId id="266" r:id="rId9"/>
    <p:sldId id="267" r:id="rId10"/>
    <p:sldId id="270" r:id="rId11"/>
    <p:sldId id="271" r:id="rId12"/>
    <p:sldId id="269" r:id="rId13"/>
  </p:sldIdLst>
  <p:sldSz cx="9144000" cy="5143500" type="screen16x9"/>
  <p:notesSz cx="9144000" cy="51435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06" d="100"/>
          <a:sy n="106" d="100"/>
        </p:scale>
        <p:origin x="778" y="8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1350986-0C6B-4EB9-8310-212D9804965A}" type="datetimeFigureOut">
              <a:rPr lang="en-US" smtClean="0"/>
              <a:t>11/12/2023</a:t>
            </a:fld>
            <a:endParaRPr lang="en-US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642938"/>
            <a:ext cx="3086100" cy="17367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914400" y="2474913"/>
            <a:ext cx="7315200" cy="20256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4886325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5180013" y="4886325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755BB94-7772-434F-A7ED-70C7BD612F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09051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55BB94-7772-434F-A7ED-70C7BD612F08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050285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55BB94-7772-434F-A7ED-70C7BD612F08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13124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67917" y="902756"/>
            <a:ext cx="7808164" cy="39115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chemeClr val="tx1"/>
                </a:solidFill>
                <a:latin typeface="Roboto"/>
                <a:cs typeface="Roboto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2880360"/>
            <a:ext cx="6400800" cy="12858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11/12/2023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666666"/>
                </a:solidFill>
                <a:latin typeface="Roboto"/>
                <a:cs typeface="Roboto"/>
              </a:defRPr>
            </a:lvl1pPr>
          </a:lstStyle>
          <a:p>
            <a:pPr marL="381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spc="-5" dirty="0"/>
              <a:t>‹#›</a:t>
            </a:fld>
            <a:endParaRPr spc="-5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Tm="6129"/>
    </mc:Choice>
    <mc:Fallback>
      <p:transition advTm="6129"/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700" b="0" i="0">
                <a:solidFill>
                  <a:srgbClr val="002F49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300" b="0" i="1">
                <a:solidFill>
                  <a:srgbClr val="31384D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11/12/2023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666666"/>
                </a:solidFill>
                <a:latin typeface="Roboto"/>
                <a:cs typeface="Roboto"/>
              </a:defRPr>
            </a:lvl1pPr>
          </a:lstStyle>
          <a:p>
            <a:pPr marL="381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spc="-5" dirty="0"/>
              <a:t>‹#›</a:t>
            </a:fld>
            <a:endParaRPr spc="-5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Tm="6129"/>
    </mc:Choice>
    <mc:Fallback>
      <p:transition advTm="6129"/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6908086" y="2069500"/>
            <a:ext cx="808990" cy="808990"/>
          </a:xfrm>
          <a:custGeom>
            <a:avLst/>
            <a:gdLst/>
            <a:ahLst/>
            <a:cxnLst/>
            <a:rect l="l" t="t" r="r" b="b"/>
            <a:pathLst>
              <a:path w="808990" h="808989">
                <a:moveTo>
                  <a:pt x="808798" y="808793"/>
                </a:moveTo>
                <a:lnTo>
                  <a:pt x="0" y="0"/>
                </a:lnTo>
                <a:lnTo>
                  <a:pt x="404399" y="0"/>
                </a:lnTo>
                <a:lnTo>
                  <a:pt x="808798" y="404399"/>
                </a:lnTo>
                <a:lnTo>
                  <a:pt x="808798" y="808793"/>
                </a:lnTo>
                <a:close/>
              </a:path>
            </a:pathLst>
          </a:custGeom>
          <a:solidFill>
            <a:srgbClr val="626B7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6861124" y="2477807"/>
            <a:ext cx="1224915" cy="1633855"/>
          </a:xfrm>
          <a:custGeom>
            <a:avLst/>
            <a:gdLst/>
            <a:ahLst/>
            <a:cxnLst/>
            <a:rect l="l" t="t" r="r" b="b"/>
            <a:pathLst>
              <a:path w="1224915" h="1633854">
                <a:moveTo>
                  <a:pt x="808799" y="808786"/>
                </a:moveTo>
                <a:lnTo>
                  <a:pt x="0" y="0"/>
                </a:lnTo>
                <a:lnTo>
                  <a:pt x="0" y="404393"/>
                </a:lnTo>
                <a:lnTo>
                  <a:pt x="404406" y="808786"/>
                </a:lnTo>
                <a:lnTo>
                  <a:pt x="808799" y="808786"/>
                </a:lnTo>
                <a:close/>
              </a:path>
              <a:path w="1224915" h="1633854">
                <a:moveTo>
                  <a:pt x="995248" y="1426019"/>
                </a:moveTo>
                <a:lnTo>
                  <a:pt x="186461" y="617220"/>
                </a:lnTo>
                <a:lnTo>
                  <a:pt x="186461" y="1021613"/>
                </a:lnTo>
                <a:lnTo>
                  <a:pt x="590854" y="1426019"/>
                </a:lnTo>
                <a:lnTo>
                  <a:pt x="995248" y="1426019"/>
                </a:lnTo>
                <a:close/>
              </a:path>
              <a:path w="1224915" h="1633854">
                <a:moveTo>
                  <a:pt x="1224305" y="1229093"/>
                </a:moveTo>
                <a:lnTo>
                  <a:pt x="819899" y="824687"/>
                </a:lnTo>
                <a:lnTo>
                  <a:pt x="415505" y="824687"/>
                </a:lnTo>
                <a:lnTo>
                  <a:pt x="1224305" y="1633486"/>
                </a:lnTo>
                <a:lnTo>
                  <a:pt x="1224305" y="1229093"/>
                </a:lnTo>
                <a:close/>
              </a:path>
            </a:pathLst>
          </a:custGeom>
          <a:solidFill>
            <a:srgbClr val="FFFFFF">
              <a:alpha val="730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7227410" y="3710792"/>
            <a:ext cx="808990" cy="808990"/>
          </a:xfrm>
          <a:custGeom>
            <a:avLst/>
            <a:gdLst/>
            <a:ahLst/>
            <a:cxnLst/>
            <a:rect l="l" t="t" r="r" b="b"/>
            <a:pathLst>
              <a:path w="808990" h="808989">
                <a:moveTo>
                  <a:pt x="808798" y="808798"/>
                </a:moveTo>
                <a:lnTo>
                  <a:pt x="404399" y="808798"/>
                </a:lnTo>
                <a:lnTo>
                  <a:pt x="0" y="404399"/>
                </a:lnTo>
                <a:lnTo>
                  <a:pt x="0" y="0"/>
                </a:lnTo>
                <a:lnTo>
                  <a:pt x="808798" y="808798"/>
                </a:lnTo>
                <a:close/>
              </a:path>
            </a:pathLst>
          </a:custGeom>
          <a:solidFill>
            <a:srgbClr val="002F4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7462431" y="3718471"/>
            <a:ext cx="1681480" cy="1424940"/>
          </a:xfrm>
          <a:custGeom>
            <a:avLst/>
            <a:gdLst/>
            <a:ahLst/>
            <a:cxnLst/>
            <a:rect l="l" t="t" r="r" b="b"/>
            <a:pathLst>
              <a:path w="1681479" h="1424939">
                <a:moveTo>
                  <a:pt x="808799" y="604227"/>
                </a:moveTo>
                <a:lnTo>
                  <a:pt x="404393" y="199821"/>
                </a:lnTo>
                <a:lnTo>
                  <a:pt x="0" y="199821"/>
                </a:lnTo>
                <a:lnTo>
                  <a:pt x="808799" y="1008621"/>
                </a:lnTo>
                <a:lnTo>
                  <a:pt x="808799" y="604227"/>
                </a:lnTo>
                <a:close/>
              </a:path>
              <a:path w="1681479" h="1424939">
                <a:moveTo>
                  <a:pt x="1448841" y="808799"/>
                </a:moveTo>
                <a:lnTo>
                  <a:pt x="640041" y="0"/>
                </a:lnTo>
                <a:lnTo>
                  <a:pt x="640041" y="404406"/>
                </a:lnTo>
                <a:lnTo>
                  <a:pt x="1044448" y="808799"/>
                </a:lnTo>
                <a:lnTo>
                  <a:pt x="1448841" y="808799"/>
                </a:lnTo>
                <a:close/>
              </a:path>
              <a:path w="1681479" h="1424939">
                <a:moveTo>
                  <a:pt x="1634642" y="1424597"/>
                </a:moveTo>
                <a:lnTo>
                  <a:pt x="825842" y="615797"/>
                </a:lnTo>
                <a:lnTo>
                  <a:pt x="825842" y="1020203"/>
                </a:lnTo>
                <a:lnTo>
                  <a:pt x="1230249" y="1424597"/>
                </a:lnTo>
                <a:lnTo>
                  <a:pt x="1634642" y="1424597"/>
                </a:lnTo>
                <a:close/>
              </a:path>
              <a:path w="1681479" h="1424939">
                <a:moveTo>
                  <a:pt x="1680870" y="611873"/>
                </a:moveTo>
                <a:lnTo>
                  <a:pt x="1276464" y="207479"/>
                </a:lnTo>
                <a:lnTo>
                  <a:pt x="872070" y="207479"/>
                </a:lnTo>
                <a:lnTo>
                  <a:pt x="1680870" y="1016279"/>
                </a:lnTo>
                <a:lnTo>
                  <a:pt x="1680870" y="611873"/>
                </a:lnTo>
                <a:close/>
              </a:path>
            </a:pathLst>
          </a:custGeom>
          <a:solidFill>
            <a:srgbClr val="FFFFFF">
              <a:alpha val="730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700" b="0" i="0">
                <a:solidFill>
                  <a:srgbClr val="002F49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11/12/2023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666666"/>
                </a:solidFill>
                <a:latin typeface="Roboto"/>
                <a:cs typeface="Roboto"/>
              </a:defRPr>
            </a:lvl1pPr>
          </a:lstStyle>
          <a:p>
            <a:pPr marL="381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spc="-5" dirty="0"/>
              <a:t>‹#›</a:t>
            </a:fld>
            <a:endParaRPr spc="-5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Tm="6129"/>
    </mc:Choice>
    <mc:Fallback>
      <p:transition advTm="6129"/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633095" cy="588645"/>
          </a:xfrm>
          <a:custGeom>
            <a:avLst/>
            <a:gdLst/>
            <a:ahLst/>
            <a:cxnLst/>
            <a:rect l="l" t="t" r="r" b="b"/>
            <a:pathLst>
              <a:path w="633095" h="588645">
                <a:moveTo>
                  <a:pt x="632698" y="588598"/>
                </a:moveTo>
                <a:lnTo>
                  <a:pt x="0" y="588598"/>
                </a:lnTo>
                <a:lnTo>
                  <a:pt x="0" y="0"/>
                </a:lnTo>
                <a:lnTo>
                  <a:pt x="632698" y="0"/>
                </a:lnTo>
                <a:lnTo>
                  <a:pt x="632698" y="588598"/>
                </a:lnTo>
                <a:close/>
              </a:path>
            </a:pathLst>
          </a:custGeom>
          <a:solidFill>
            <a:srgbClr val="1A212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212039" y="221754"/>
            <a:ext cx="219710" cy="144145"/>
          </a:xfrm>
          <a:custGeom>
            <a:avLst/>
            <a:gdLst/>
            <a:ahLst/>
            <a:cxnLst/>
            <a:rect l="l" t="t" r="r" b="b"/>
            <a:pathLst>
              <a:path w="219709" h="144145">
                <a:moveTo>
                  <a:pt x="219608" y="124942"/>
                </a:moveTo>
                <a:lnTo>
                  <a:pt x="0" y="124942"/>
                </a:lnTo>
                <a:lnTo>
                  <a:pt x="0" y="143852"/>
                </a:lnTo>
                <a:lnTo>
                  <a:pt x="219608" y="143852"/>
                </a:lnTo>
                <a:lnTo>
                  <a:pt x="219608" y="124942"/>
                </a:lnTo>
                <a:close/>
              </a:path>
              <a:path w="219709" h="144145">
                <a:moveTo>
                  <a:pt x="219608" y="62471"/>
                </a:moveTo>
                <a:lnTo>
                  <a:pt x="0" y="62471"/>
                </a:lnTo>
                <a:lnTo>
                  <a:pt x="0" y="81381"/>
                </a:lnTo>
                <a:lnTo>
                  <a:pt x="219608" y="81381"/>
                </a:lnTo>
                <a:lnTo>
                  <a:pt x="219608" y="62471"/>
                </a:lnTo>
                <a:close/>
              </a:path>
              <a:path w="219709" h="144145">
                <a:moveTo>
                  <a:pt x="219608" y="0"/>
                </a:moveTo>
                <a:lnTo>
                  <a:pt x="0" y="0"/>
                </a:lnTo>
                <a:lnTo>
                  <a:pt x="0" y="18897"/>
                </a:lnTo>
                <a:lnTo>
                  <a:pt x="219608" y="18897"/>
                </a:lnTo>
                <a:lnTo>
                  <a:pt x="219608" y="0"/>
                </a:lnTo>
                <a:close/>
              </a:path>
            </a:pathLst>
          </a:custGeom>
          <a:solidFill>
            <a:srgbClr val="54678A">
              <a:alpha val="3597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0" y="381001"/>
            <a:ext cx="808990" cy="808990"/>
          </a:xfrm>
          <a:custGeom>
            <a:avLst/>
            <a:gdLst/>
            <a:ahLst/>
            <a:cxnLst/>
            <a:rect l="l" t="t" r="r" b="b"/>
            <a:pathLst>
              <a:path w="808990" h="808990">
                <a:moveTo>
                  <a:pt x="808798" y="808798"/>
                </a:moveTo>
                <a:lnTo>
                  <a:pt x="404399" y="808798"/>
                </a:lnTo>
                <a:lnTo>
                  <a:pt x="0" y="404399"/>
                </a:lnTo>
                <a:lnTo>
                  <a:pt x="0" y="0"/>
                </a:lnTo>
                <a:lnTo>
                  <a:pt x="808798" y="808798"/>
                </a:lnTo>
                <a:close/>
              </a:path>
            </a:pathLst>
          </a:custGeom>
          <a:solidFill>
            <a:srgbClr val="002F4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229049" y="588486"/>
            <a:ext cx="808990" cy="808990"/>
          </a:xfrm>
          <a:custGeom>
            <a:avLst/>
            <a:gdLst/>
            <a:ahLst/>
            <a:cxnLst/>
            <a:rect l="l" t="t" r="r" b="b"/>
            <a:pathLst>
              <a:path w="808990" h="808990">
                <a:moveTo>
                  <a:pt x="808798" y="808798"/>
                </a:moveTo>
                <a:lnTo>
                  <a:pt x="0" y="0"/>
                </a:lnTo>
                <a:lnTo>
                  <a:pt x="404399" y="0"/>
                </a:lnTo>
                <a:lnTo>
                  <a:pt x="808798" y="404399"/>
                </a:lnTo>
                <a:lnTo>
                  <a:pt x="808798" y="808798"/>
                </a:lnTo>
                <a:close/>
              </a:path>
            </a:pathLst>
          </a:custGeom>
          <a:solidFill>
            <a:srgbClr val="626B7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700" b="0" i="0">
                <a:solidFill>
                  <a:srgbClr val="002F49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11/12/2023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666666"/>
                </a:solidFill>
                <a:latin typeface="Roboto"/>
                <a:cs typeface="Roboto"/>
              </a:defRPr>
            </a:lvl1pPr>
          </a:lstStyle>
          <a:p>
            <a:pPr marL="381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spc="-5" dirty="0"/>
              <a:t>‹#›</a:t>
            </a:fld>
            <a:endParaRPr spc="-5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Tm="6129"/>
    </mc:Choice>
    <mc:Fallback>
      <p:transition advTm="6129"/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633095" cy="588645"/>
          </a:xfrm>
          <a:custGeom>
            <a:avLst/>
            <a:gdLst/>
            <a:ahLst/>
            <a:cxnLst/>
            <a:rect l="l" t="t" r="r" b="b"/>
            <a:pathLst>
              <a:path w="633095" h="588645">
                <a:moveTo>
                  <a:pt x="632698" y="588598"/>
                </a:moveTo>
                <a:lnTo>
                  <a:pt x="0" y="588598"/>
                </a:lnTo>
                <a:lnTo>
                  <a:pt x="0" y="0"/>
                </a:lnTo>
                <a:lnTo>
                  <a:pt x="632698" y="0"/>
                </a:lnTo>
                <a:lnTo>
                  <a:pt x="632698" y="588598"/>
                </a:lnTo>
                <a:close/>
              </a:path>
            </a:pathLst>
          </a:custGeom>
          <a:solidFill>
            <a:srgbClr val="1A212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212039" y="221754"/>
            <a:ext cx="219710" cy="144145"/>
          </a:xfrm>
          <a:custGeom>
            <a:avLst/>
            <a:gdLst/>
            <a:ahLst/>
            <a:cxnLst/>
            <a:rect l="l" t="t" r="r" b="b"/>
            <a:pathLst>
              <a:path w="219709" h="144145">
                <a:moveTo>
                  <a:pt x="219608" y="124942"/>
                </a:moveTo>
                <a:lnTo>
                  <a:pt x="0" y="124942"/>
                </a:lnTo>
                <a:lnTo>
                  <a:pt x="0" y="143852"/>
                </a:lnTo>
                <a:lnTo>
                  <a:pt x="219608" y="143852"/>
                </a:lnTo>
                <a:lnTo>
                  <a:pt x="219608" y="124942"/>
                </a:lnTo>
                <a:close/>
              </a:path>
              <a:path w="219709" h="144145">
                <a:moveTo>
                  <a:pt x="219608" y="62471"/>
                </a:moveTo>
                <a:lnTo>
                  <a:pt x="0" y="62471"/>
                </a:lnTo>
                <a:lnTo>
                  <a:pt x="0" y="81381"/>
                </a:lnTo>
                <a:lnTo>
                  <a:pt x="219608" y="81381"/>
                </a:lnTo>
                <a:lnTo>
                  <a:pt x="219608" y="62471"/>
                </a:lnTo>
                <a:close/>
              </a:path>
              <a:path w="219709" h="144145">
                <a:moveTo>
                  <a:pt x="219608" y="0"/>
                </a:moveTo>
                <a:lnTo>
                  <a:pt x="0" y="0"/>
                </a:lnTo>
                <a:lnTo>
                  <a:pt x="0" y="18897"/>
                </a:lnTo>
                <a:lnTo>
                  <a:pt x="219608" y="18897"/>
                </a:lnTo>
                <a:lnTo>
                  <a:pt x="219608" y="0"/>
                </a:lnTo>
                <a:close/>
              </a:path>
            </a:pathLst>
          </a:custGeom>
          <a:solidFill>
            <a:srgbClr val="54678A">
              <a:alpha val="3597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0" y="381001"/>
            <a:ext cx="808990" cy="808990"/>
          </a:xfrm>
          <a:custGeom>
            <a:avLst/>
            <a:gdLst/>
            <a:ahLst/>
            <a:cxnLst/>
            <a:rect l="l" t="t" r="r" b="b"/>
            <a:pathLst>
              <a:path w="808990" h="808990">
                <a:moveTo>
                  <a:pt x="808798" y="808798"/>
                </a:moveTo>
                <a:lnTo>
                  <a:pt x="404399" y="808798"/>
                </a:lnTo>
                <a:lnTo>
                  <a:pt x="0" y="404399"/>
                </a:lnTo>
                <a:lnTo>
                  <a:pt x="0" y="0"/>
                </a:lnTo>
                <a:lnTo>
                  <a:pt x="808798" y="808798"/>
                </a:lnTo>
                <a:close/>
              </a:path>
            </a:pathLst>
          </a:custGeom>
          <a:solidFill>
            <a:srgbClr val="002F4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229049" y="588486"/>
            <a:ext cx="808990" cy="808990"/>
          </a:xfrm>
          <a:custGeom>
            <a:avLst/>
            <a:gdLst/>
            <a:ahLst/>
            <a:cxnLst/>
            <a:rect l="l" t="t" r="r" b="b"/>
            <a:pathLst>
              <a:path w="808990" h="808990">
                <a:moveTo>
                  <a:pt x="808798" y="808798"/>
                </a:moveTo>
                <a:lnTo>
                  <a:pt x="0" y="0"/>
                </a:lnTo>
                <a:lnTo>
                  <a:pt x="404399" y="0"/>
                </a:lnTo>
                <a:lnTo>
                  <a:pt x="808798" y="404399"/>
                </a:lnTo>
                <a:lnTo>
                  <a:pt x="808798" y="808798"/>
                </a:lnTo>
                <a:close/>
              </a:path>
            </a:pathLst>
          </a:custGeom>
          <a:solidFill>
            <a:srgbClr val="626B7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11/12/2023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666666"/>
                </a:solidFill>
                <a:latin typeface="Roboto"/>
                <a:cs typeface="Roboto"/>
              </a:defRPr>
            </a:lvl1pPr>
          </a:lstStyle>
          <a:p>
            <a:pPr marL="381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spc="-5" dirty="0"/>
              <a:t>‹#›</a:t>
            </a:fld>
            <a:endParaRPr spc="-5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Tm="6129"/>
    </mc:Choice>
    <mc:Fallback>
      <p:transition advTm="6129"/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597091" y="81389"/>
            <a:ext cx="1949816" cy="4368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700" b="0" i="0">
                <a:solidFill>
                  <a:srgbClr val="002F49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39551" y="935894"/>
            <a:ext cx="8864897" cy="19761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300" b="0" i="1">
                <a:solidFill>
                  <a:srgbClr val="31384D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11/12/2023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816468" y="4755349"/>
            <a:ext cx="163195" cy="19494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000" b="0" i="0">
                <a:solidFill>
                  <a:srgbClr val="666666"/>
                </a:solidFill>
                <a:latin typeface="Roboto"/>
                <a:cs typeface="Roboto"/>
              </a:defRPr>
            </a:lvl1pPr>
          </a:lstStyle>
          <a:p>
            <a:pPr marL="381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spc="-5" dirty="0"/>
              <a:t>‹#›</a:t>
            </a:fld>
            <a:endParaRPr spc="-5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mc:AlternateContent xmlns:mc="http://schemas.openxmlformats.org/markup-compatibility/2006">
    <mc:Choice xmlns:p14="http://schemas.microsoft.com/office/powerpoint/2010/main" Requires="p14">
      <p:transition p14:dur="0" advTm="6129"/>
    </mc:Choice>
    <mc:Fallback>
      <p:transition advTm="6129"/>
    </mc:Fallback>
  </mc:AlternateConten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Relationship Id="rId9" Type="http://schemas.openxmlformats.org/officeDocument/2006/relationships/image" Target="../media/image17.jpe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C9822B6E-565E-4F4E-B7F9-41A15ECC8E0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2" y="14530"/>
            <a:ext cx="9144000" cy="5143500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1577575" y="1670260"/>
            <a:ext cx="5988850" cy="183204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 algn="ctr">
              <a:lnSpc>
                <a:spcPct val="101200"/>
              </a:lnSpc>
              <a:spcBef>
                <a:spcPts val="90"/>
              </a:spcBef>
            </a:pPr>
            <a:r>
              <a:rPr lang="en-US" sz="5400" spc="204" dirty="0">
                <a:solidFill>
                  <a:schemeClr val="accent1">
                    <a:lumMod val="50000"/>
                  </a:schemeClr>
                </a:solidFill>
                <a:latin typeface="Verdana"/>
                <a:cs typeface="Verdana"/>
              </a:rPr>
              <a:t>Ilm-Talim</a:t>
            </a:r>
            <a:endParaRPr lang="ru-RU" sz="5400" spc="204" dirty="0">
              <a:solidFill>
                <a:schemeClr val="accent1">
                  <a:lumMod val="50000"/>
                </a:schemeClr>
              </a:solidFill>
              <a:latin typeface="Verdana"/>
              <a:cs typeface="Verdana"/>
            </a:endParaRPr>
          </a:p>
          <a:p>
            <a:pPr marL="12700" marR="5080" algn="ctr">
              <a:lnSpc>
                <a:spcPct val="101200"/>
              </a:lnSpc>
              <a:spcBef>
                <a:spcPts val="90"/>
              </a:spcBef>
            </a:pPr>
            <a:r>
              <a:rPr lang="en-US" sz="3200" spc="204" dirty="0">
                <a:solidFill>
                  <a:schemeClr val="accent1">
                    <a:lumMod val="50000"/>
                  </a:schemeClr>
                </a:solidFill>
                <a:latin typeface="Montserrat Medium" panose="00000600000000000000" pitchFamily="2" charset="-52"/>
                <a:cs typeface="Verdana"/>
              </a:rPr>
              <a:t>by ASAFA</a:t>
            </a:r>
          </a:p>
          <a:p>
            <a:pPr marL="12700" marR="5080" algn="ctr">
              <a:lnSpc>
                <a:spcPct val="101200"/>
              </a:lnSpc>
              <a:spcBef>
                <a:spcPts val="90"/>
              </a:spcBef>
            </a:pPr>
            <a:r>
              <a:rPr lang="en-US" sz="3200" spc="204" dirty="0">
                <a:solidFill>
                  <a:srgbClr val="424242"/>
                </a:solidFill>
                <a:latin typeface="Verdana"/>
                <a:cs typeface="Verdana"/>
              </a:rPr>
              <a:t>  </a:t>
            </a:r>
            <a:endParaRPr sz="3200" dirty="0">
              <a:latin typeface="Verdana"/>
              <a:cs typeface="Verdan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851430" y="4766031"/>
            <a:ext cx="97155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5" dirty="0">
                <a:solidFill>
                  <a:srgbClr val="FFFFFF"/>
                </a:solidFill>
                <a:latin typeface="Roboto"/>
                <a:cs typeface="Roboto"/>
              </a:rPr>
              <a:t>1</a:t>
            </a:r>
            <a:endParaRPr sz="1000">
              <a:latin typeface="Roboto"/>
              <a:cs typeface="Roboto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Tm="6129"/>
    </mc:Choice>
    <mc:Fallback>
      <p:transition advTm="6129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3764915" cy="5143500"/>
          </a:xfrm>
          <a:custGeom>
            <a:avLst/>
            <a:gdLst/>
            <a:ahLst/>
            <a:cxnLst/>
            <a:rect l="l" t="t" r="r" b="b"/>
            <a:pathLst>
              <a:path w="3764915" h="5143500">
                <a:moveTo>
                  <a:pt x="3764392" y="5143489"/>
                </a:moveTo>
                <a:lnTo>
                  <a:pt x="0" y="5143489"/>
                </a:lnTo>
                <a:lnTo>
                  <a:pt x="0" y="0"/>
                </a:lnTo>
                <a:lnTo>
                  <a:pt x="3764392" y="0"/>
                </a:lnTo>
                <a:lnTo>
                  <a:pt x="3764392" y="5143489"/>
                </a:lnTo>
                <a:close/>
              </a:path>
            </a:pathLst>
          </a:custGeom>
          <a:solidFill>
            <a:srgbClr val="31384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33218" y="1715489"/>
            <a:ext cx="2898478" cy="99770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ctr">
              <a:lnSpc>
                <a:spcPct val="100000"/>
              </a:lnSpc>
              <a:spcBef>
                <a:spcPts val="100"/>
              </a:spcBef>
            </a:pPr>
            <a:r>
              <a:rPr sz="3200" spc="105" dirty="0">
                <a:solidFill>
                  <a:srgbClr val="FFFFFF"/>
                </a:solidFill>
                <a:latin typeface="Montserrat SemiBold" panose="00000700000000000000" pitchFamily="2" charset="-52"/>
              </a:rPr>
              <a:t>Пониман</a:t>
            </a:r>
            <a:r>
              <a:rPr lang="ru-RU" sz="3200" spc="105" dirty="0">
                <a:solidFill>
                  <a:srgbClr val="FFFFFF"/>
                </a:solidFill>
                <a:latin typeface="Montserrat SemiBold" panose="00000700000000000000" pitchFamily="2" charset="-52"/>
              </a:rPr>
              <a:t>и</a:t>
            </a:r>
            <a:r>
              <a:rPr sz="3200" spc="105" dirty="0">
                <a:solidFill>
                  <a:srgbClr val="FFFFFF"/>
                </a:solidFill>
                <a:latin typeface="Montserrat SemiBold" panose="00000700000000000000" pitchFamily="2" charset="-52"/>
              </a:rPr>
              <a:t>е  </a:t>
            </a:r>
            <a:r>
              <a:rPr sz="3200" spc="114" dirty="0">
                <a:solidFill>
                  <a:srgbClr val="FFFFFF"/>
                </a:solidFill>
                <a:latin typeface="Montserrat SemiBold" panose="00000700000000000000" pitchFamily="2" charset="-52"/>
              </a:rPr>
              <a:t>проблем</a:t>
            </a:r>
            <a:endParaRPr sz="3200" dirty="0">
              <a:latin typeface="Montserrat SemiBold" panose="00000700000000000000" pitchFamily="2" charset="-52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spc="-5" dirty="0"/>
              <a:t>2</a:t>
            </a:fld>
            <a:endParaRPr spc="-5" dirty="0"/>
          </a:p>
        </p:txBody>
      </p:sp>
      <p:sp>
        <p:nvSpPr>
          <p:cNvPr id="4" name="object 4"/>
          <p:cNvSpPr txBox="1"/>
          <p:nvPr/>
        </p:nvSpPr>
        <p:spPr>
          <a:xfrm>
            <a:off x="4234815" y="618642"/>
            <a:ext cx="337185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400" spc="55" dirty="0">
                <a:latin typeface="Montserrat SemiBold" panose="00000700000000000000" pitchFamily="2" charset="-52"/>
                <a:cs typeface="Verdana"/>
              </a:rPr>
              <a:t>0</a:t>
            </a:r>
            <a:r>
              <a:rPr sz="2400" spc="-660" dirty="0">
                <a:latin typeface="Montserrat SemiBold" panose="00000700000000000000" pitchFamily="2" charset="-52"/>
                <a:cs typeface="Verdana"/>
              </a:rPr>
              <a:t>1</a:t>
            </a:r>
            <a:endParaRPr sz="2400" dirty="0">
              <a:latin typeface="Montserrat SemiBold" panose="00000700000000000000" pitchFamily="2" charset="-52"/>
              <a:cs typeface="Verdan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281015" y="4025016"/>
            <a:ext cx="450586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35" dirty="0">
                <a:latin typeface="Montserrat SemiBold" panose="00000700000000000000" pitchFamily="2" charset="-52"/>
                <a:cs typeface="Verdana"/>
              </a:rPr>
              <a:t>0</a:t>
            </a:r>
            <a:r>
              <a:rPr sz="2400" spc="-175" dirty="0">
                <a:latin typeface="Montserrat SemiBold" panose="00000700000000000000" pitchFamily="2" charset="-52"/>
                <a:cs typeface="Verdana"/>
              </a:rPr>
              <a:t>3</a:t>
            </a:r>
            <a:endParaRPr sz="2400" dirty="0">
              <a:latin typeface="Montserrat SemiBold" panose="00000700000000000000" pitchFamily="2" charset="-52"/>
              <a:cs typeface="Verdan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800600" y="3588372"/>
            <a:ext cx="2764790" cy="126444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ctr">
              <a:lnSpc>
                <a:spcPct val="114999"/>
              </a:lnSpc>
              <a:spcBef>
                <a:spcPts val="100"/>
              </a:spcBef>
            </a:pPr>
            <a:r>
              <a:rPr lang="ru-RU" spc="-5" dirty="0">
                <a:latin typeface="Montserrat" panose="00000500000000000000" pitchFamily="2" charset="-52"/>
                <a:cs typeface="Roboto"/>
              </a:rPr>
              <a:t> </a:t>
            </a:r>
            <a:r>
              <a:rPr lang="ru-RU" spc="-5" dirty="0">
                <a:latin typeface="Montserrat Medium" panose="00000600000000000000" pitchFamily="2" charset="-52"/>
                <a:cs typeface="Roboto"/>
              </a:rPr>
              <a:t>Недостаток площадок для публикаций статей ученых из Узбекистана</a:t>
            </a:r>
            <a:r>
              <a:rPr lang="en-US" spc="-5" dirty="0">
                <a:latin typeface="Montserrat Medium" panose="00000600000000000000" pitchFamily="2" charset="-52"/>
                <a:cs typeface="Roboto"/>
              </a:rPr>
              <a:t>.</a:t>
            </a:r>
            <a:endParaRPr dirty="0">
              <a:latin typeface="Montserrat Medium" panose="00000600000000000000" pitchFamily="2" charset="-52"/>
              <a:cs typeface="Roboto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BFB79CC-D740-4FED-A2EB-435E28E266B7}"/>
              </a:ext>
            </a:extLst>
          </p:cNvPr>
          <p:cNvSpPr txBox="1"/>
          <p:nvPr/>
        </p:nvSpPr>
        <p:spPr>
          <a:xfrm>
            <a:off x="4125308" y="2340917"/>
            <a:ext cx="76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400" spc="55" dirty="0">
                <a:latin typeface="Montserrat SemiBold" panose="00000700000000000000" pitchFamily="2" charset="-52"/>
                <a:cs typeface="Verdana"/>
              </a:rPr>
              <a:t>0</a:t>
            </a:r>
            <a:r>
              <a:rPr lang="ru-RU" sz="2400" spc="-660" dirty="0">
                <a:latin typeface="Montserrat SemiBold" panose="00000700000000000000" pitchFamily="2" charset="-52"/>
                <a:cs typeface="Verdana"/>
              </a:rPr>
              <a:t>2</a:t>
            </a:r>
            <a:endParaRPr lang="en-US" sz="2400" dirty="0">
              <a:latin typeface="Montserrat SemiBold" panose="00000700000000000000" pitchFamily="2" charset="-52"/>
              <a:cs typeface="Verdana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20CE272-BEFA-4464-815F-768CAF5E98ED}"/>
              </a:ext>
            </a:extLst>
          </p:cNvPr>
          <p:cNvSpPr txBox="1"/>
          <p:nvPr/>
        </p:nvSpPr>
        <p:spPr>
          <a:xfrm>
            <a:off x="4812000" y="140377"/>
            <a:ext cx="2842259" cy="16625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 marR="5080" algn="ctr">
              <a:lnSpc>
                <a:spcPct val="114999"/>
              </a:lnSpc>
              <a:spcBef>
                <a:spcPts val="100"/>
              </a:spcBef>
            </a:pPr>
            <a:r>
              <a:rPr lang="ru-RU" spc="-5" dirty="0">
                <a:latin typeface="Montserrat Medium" panose="00000600000000000000" pitchFamily="2" charset="-52"/>
                <a:cs typeface="Roboto"/>
              </a:rPr>
              <a:t>Отсутствие площадки, где можно смотреть и изучать разные сферы науки, не покидая сам сайт</a:t>
            </a:r>
            <a:r>
              <a:rPr lang="en-US" spc="-5" dirty="0">
                <a:latin typeface="Montserrat Medium" panose="00000600000000000000" pitchFamily="2" charset="-52"/>
                <a:cs typeface="Roboto"/>
              </a:rPr>
              <a:t>.</a:t>
            </a:r>
            <a:endParaRPr lang="ru-RU" dirty="0">
              <a:latin typeface="Montserrat Medium" panose="00000600000000000000" pitchFamily="2" charset="-52"/>
              <a:cs typeface="Roboto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A344447-36A6-4F97-A409-5FC035321AE9}"/>
              </a:ext>
            </a:extLst>
          </p:cNvPr>
          <p:cNvSpPr txBox="1"/>
          <p:nvPr/>
        </p:nvSpPr>
        <p:spPr>
          <a:xfrm>
            <a:off x="4743001" y="1997936"/>
            <a:ext cx="30843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dirty="0">
                <a:latin typeface="Montserrat" panose="00000500000000000000" pitchFamily="2" charset="-52"/>
              </a:rPr>
              <a:t> </a:t>
            </a:r>
            <a:r>
              <a:rPr lang="ru-RU" dirty="0">
                <a:latin typeface="Montserrat Medium" panose="00000600000000000000" pitchFamily="2" charset="-52"/>
              </a:rPr>
              <a:t>Нехватка возможностей для коммуникации ученых из разных сфер наук</a:t>
            </a:r>
            <a:r>
              <a:rPr lang="ru-RU" dirty="0">
                <a:latin typeface="Montserrat" panose="00000500000000000000" pitchFamily="2" charset="-52"/>
              </a:rPr>
              <a:t>. </a:t>
            </a:r>
            <a:endParaRPr lang="en-US" dirty="0">
              <a:latin typeface="Montserrat" panose="00000500000000000000" pitchFamily="2" charset="-5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Tm="6129"/>
    </mc:Choice>
    <mc:Fallback>
      <p:transition advTm="6129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743200" y="189616"/>
            <a:ext cx="3068886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spc="70" dirty="0">
                <a:latin typeface="Montserrat SemiBold" panose="00000700000000000000" pitchFamily="2" charset="-52"/>
              </a:rPr>
              <a:t>Наша</a:t>
            </a:r>
            <a:r>
              <a:rPr sz="3200" spc="-375" dirty="0">
                <a:latin typeface="Montserrat SemiBold" panose="00000700000000000000" pitchFamily="2" charset="-52"/>
              </a:rPr>
              <a:t> </a:t>
            </a:r>
            <a:r>
              <a:rPr sz="3200" dirty="0">
                <a:latin typeface="Montserrat SemiBold" panose="00000700000000000000" pitchFamily="2" charset="-52"/>
              </a:rPr>
              <a:t>цель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153800" y="4026323"/>
            <a:ext cx="1931628" cy="923971"/>
          </a:xfrm>
          <a:prstGeom prst="rect">
            <a:avLst/>
          </a:prstGeom>
        </p:spPr>
        <p:txBody>
          <a:bodyPr vert="horz" wrap="square" lIns="0" tIns="20320" rIns="0" bIns="0" rtlCol="0">
            <a:spAutoFit/>
          </a:bodyPr>
          <a:lstStyle/>
          <a:p>
            <a:pPr marL="12700" marR="5080" algn="ctr">
              <a:lnSpc>
                <a:spcPts val="1420"/>
              </a:lnSpc>
              <a:spcBef>
                <a:spcPts val="160"/>
              </a:spcBef>
            </a:pPr>
            <a:r>
              <a:rPr lang="ru-RU" sz="1600" i="1" dirty="0">
                <a:latin typeface="Montserrat" panose="00000500000000000000" pitchFamily="2" charset="-52"/>
                <a:cs typeface="Roboto"/>
              </a:rPr>
              <a:t>Возможность для продвижения статей ученых в международные издания</a:t>
            </a:r>
            <a:r>
              <a:rPr lang="en-US" sz="1600" i="1" dirty="0">
                <a:latin typeface="Montserrat" panose="00000500000000000000" pitchFamily="2" charset="-52"/>
                <a:cs typeface="Roboto"/>
              </a:rPr>
              <a:t>.</a:t>
            </a:r>
            <a:endParaRPr sz="1600" dirty="0">
              <a:latin typeface="Montserrat" panose="00000500000000000000" pitchFamily="2" charset="-52"/>
              <a:cs typeface="Roboto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610198" y="1476530"/>
            <a:ext cx="7923604" cy="300089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lang="en-US" dirty="0"/>
          </a:p>
        </p:txBody>
      </p:sp>
      <p:sp>
        <p:nvSpPr>
          <p:cNvPr id="5" name="object 5"/>
          <p:cNvSpPr txBox="1"/>
          <p:nvPr/>
        </p:nvSpPr>
        <p:spPr>
          <a:xfrm>
            <a:off x="6218100" y="4031743"/>
            <a:ext cx="1772100" cy="923971"/>
          </a:xfrm>
          <a:prstGeom prst="rect">
            <a:avLst/>
          </a:prstGeom>
        </p:spPr>
        <p:txBody>
          <a:bodyPr vert="horz" wrap="square" lIns="0" tIns="20320" rIns="0" bIns="0" rtlCol="0">
            <a:spAutoFit/>
          </a:bodyPr>
          <a:lstStyle/>
          <a:p>
            <a:pPr marL="180975" marR="5080" indent="-168910">
              <a:lnSpc>
                <a:spcPts val="1420"/>
              </a:lnSpc>
              <a:spcBef>
                <a:spcPts val="160"/>
              </a:spcBef>
            </a:pPr>
            <a:r>
              <a:rPr lang="ru-RU" sz="1200" i="1" dirty="0">
                <a:latin typeface="Roboto"/>
                <a:cs typeface="Roboto"/>
              </a:rPr>
              <a:t>    </a:t>
            </a:r>
            <a:r>
              <a:rPr lang="ru-RU" sz="1600" i="1" dirty="0">
                <a:latin typeface="Montserrat" panose="00000500000000000000" pitchFamily="2" charset="-52"/>
                <a:cs typeface="Roboto"/>
              </a:rPr>
              <a:t>Доступность информации для быстрого решения проблем</a:t>
            </a:r>
            <a:r>
              <a:rPr lang="en-US" sz="1600" i="1" dirty="0">
                <a:latin typeface="Montserrat" panose="00000500000000000000" pitchFamily="2" charset="-52"/>
                <a:cs typeface="Roboto"/>
              </a:rPr>
              <a:t>.</a:t>
            </a:r>
            <a:endParaRPr sz="1600" dirty="0">
              <a:latin typeface="Montserrat" panose="00000500000000000000" pitchFamily="2" charset="-52"/>
              <a:cs typeface="Roboto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153800" y="1174133"/>
            <a:ext cx="1894200" cy="750847"/>
          </a:xfrm>
          <a:prstGeom prst="rect">
            <a:avLst/>
          </a:prstGeom>
        </p:spPr>
        <p:txBody>
          <a:bodyPr vert="horz" wrap="square" lIns="0" tIns="20320" rIns="0" bIns="0" rtlCol="0">
            <a:spAutoFit/>
          </a:bodyPr>
          <a:lstStyle/>
          <a:p>
            <a:pPr marL="12700" marR="5080" algn="ctr">
              <a:lnSpc>
                <a:spcPts val="1420"/>
              </a:lnSpc>
              <a:spcBef>
                <a:spcPts val="160"/>
              </a:spcBef>
            </a:pPr>
            <a:r>
              <a:rPr lang="ru-RU" i="1" dirty="0">
                <a:latin typeface="Montserrat" panose="00000500000000000000" pitchFamily="2" charset="-52"/>
                <a:cs typeface="Roboto"/>
              </a:rPr>
              <a:t>Упрощение коммуникации между учеными</a:t>
            </a:r>
            <a:r>
              <a:rPr lang="en-US" i="1" dirty="0">
                <a:latin typeface="Montserrat" panose="00000500000000000000" pitchFamily="2" charset="-52"/>
                <a:cs typeface="Roboto"/>
              </a:rPr>
              <a:t>.</a:t>
            </a:r>
            <a:endParaRPr dirty="0">
              <a:latin typeface="Montserrat" panose="00000500000000000000" pitchFamily="2" charset="-52"/>
              <a:cs typeface="Roboto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116886" y="1023297"/>
            <a:ext cx="1941556" cy="750847"/>
          </a:xfrm>
          <a:prstGeom prst="rect">
            <a:avLst/>
          </a:prstGeom>
        </p:spPr>
        <p:txBody>
          <a:bodyPr vert="horz" wrap="square" lIns="0" tIns="20320" rIns="0" bIns="0" rtlCol="0">
            <a:spAutoFit/>
          </a:bodyPr>
          <a:lstStyle/>
          <a:p>
            <a:pPr marL="12700" marR="5080" indent="71120" algn="ctr">
              <a:lnSpc>
                <a:spcPts val="1420"/>
              </a:lnSpc>
              <a:spcBef>
                <a:spcPts val="160"/>
              </a:spcBef>
            </a:pPr>
            <a:r>
              <a:rPr lang="ru-RU" i="1" dirty="0">
                <a:latin typeface="Montserrat" panose="00000500000000000000" pitchFamily="2" charset="-52"/>
                <a:cs typeface="Roboto"/>
              </a:rPr>
              <a:t>Ускорение и оптимизирование исследований</a:t>
            </a:r>
            <a:r>
              <a:rPr lang="en-US" i="1" dirty="0">
                <a:latin typeface="Montserrat" panose="00000500000000000000" pitchFamily="2" charset="-52"/>
                <a:cs typeface="Roboto"/>
              </a:rPr>
              <a:t>.</a:t>
            </a:r>
            <a:endParaRPr dirty="0">
              <a:latin typeface="Montserrat" panose="00000500000000000000" pitchFamily="2" charset="-52"/>
              <a:cs typeface="Roboto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4175330" y="1023297"/>
            <a:ext cx="1941556" cy="2026761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lang="en-US" spc="-5" smtClean="0"/>
              <a:t>3</a:t>
            </a:fld>
            <a:endParaRPr spc="-5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Tm="6129"/>
    </mc:Choice>
    <mc:Fallback>
      <p:transition advTm="6129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object 26"/>
          <p:cNvSpPr txBox="1">
            <a:spLocks noGrp="1"/>
          </p:cNvSpPr>
          <p:nvPr>
            <p:ph type="title"/>
          </p:nvPr>
        </p:nvSpPr>
        <p:spPr>
          <a:xfrm>
            <a:off x="2209800" y="133350"/>
            <a:ext cx="4114800" cy="1123384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20"/>
              </a:spcBef>
            </a:pPr>
            <a:r>
              <a:rPr sz="3200" spc="45" dirty="0">
                <a:latin typeface="Montserrat SemiBold" panose="00000700000000000000" pitchFamily="2" charset="-52"/>
              </a:rPr>
              <a:t>Представляем:</a:t>
            </a:r>
            <a:r>
              <a:rPr lang="en-US" sz="3200" spc="45" dirty="0">
                <a:latin typeface="Montserrat SemiBold" panose="00000700000000000000" pitchFamily="2" charset="-52"/>
              </a:rPr>
              <a:t>  </a:t>
            </a:r>
            <a:br>
              <a:rPr lang="ru-RU" sz="3200" spc="45" dirty="0">
                <a:latin typeface="Montserrat SemiBold" panose="00000700000000000000" pitchFamily="2" charset="-52"/>
              </a:rPr>
            </a:br>
            <a:r>
              <a:rPr lang="en-US" sz="4000" spc="-275" dirty="0">
                <a:latin typeface="Montserrat Black" panose="00000A00000000000000" pitchFamily="2" charset="-52"/>
              </a:rPr>
              <a:t>I-</a:t>
            </a:r>
            <a:r>
              <a:rPr lang="en-US" sz="4000" spc="-275" dirty="0" err="1">
                <a:latin typeface="Montserrat Black" panose="00000A00000000000000" pitchFamily="2" charset="-52"/>
              </a:rPr>
              <a:t>Talim</a:t>
            </a:r>
            <a:endParaRPr sz="4000" dirty="0">
              <a:latin typeface="Montserrat Black" panose="00000A00000000000000" pitchFamily="2" charset="-52"/>
            </a:endParaRPr>
          </a:p>
        </p:txBody>
      </p:sp>
      <p:sp>
        <p:nvSpPr>
          <p:cNvPr id="27" name="object 2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spc="-5" dirty="0"/>
              <a:t>4</a:t>
            </a:fld>
            <a:endParaRPr spc="-5" dirty="0"/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FEAA34D1-54F8-4569-A2F6-CCD89570F4D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1500" y="1504950"/>
            <a:ext cx="8001000" cy="304982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Tm="6129"/>
    </mc:Choice>
    <mc:Fallback>
      <p:transition advTm="6129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9DEC3DD-7129-F6B7-8E79-096F356C0E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89588"/>
            <a:ext cx="7886700" cy="492443"/>
          </a:xfrm>
        </p:spPr>
        <p:txBody>
          <a:bodyPr/>
          <a:lstStyle/>
          <a:p>
            <a:pPr algn="ctr"/>
            <a:r>
              <a:rPr lang="ru-RU" sz="3200" dirty="0">
                <a:latin typeface="Montserrat SemiBold" panose="00000700000000000000" pitchFamily="2" charset="-52"/>
              </a:rPr>
              <a:t>Особенности нашего решения</a:t>
            </a:r>
          </a:p>
        </p:txBody>
      </p:sp>
      <p:sp>
        <p:nvSpPr>
          <p:cNvPr id="14" name="Объект 13">
            <a:extLst>
              <a:ext uri="{FF2B5EF4-FFF2-40B4-BE49-F238E27FC236}">
                <a16:creationId xmlns:a16="http://schemas.microsoft.com/office/drawing/2014/main" id="{6F77A4BB-A99C-7640-C945-85FFB7EC24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99691" y="3638550"/>
            <a:ext cx="1127764" cy="15389"/>
          </a:xfrm>
        </p:spPr>
        <p:txBody>
          <a:bodyPr/>
          <a:lstStyle/>
          <a:p>
            <a:r>
              <a:rPr lang="ru-RU" sz="100" dirty="0"/>
              <a:t>.</a:t>
            </a:r>
          </a:p>
        </p:txBody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51790BBD-41DA-29A0-EE84-9ABE87E620CD}"/>
              </a:ext>
            </a:extLst>
          </p:cNvPr>
          <p:cNvSpPr/>
          <p:nvPr/>
        </p:nvSpPr>
        <p:spPr>
          <a:xfrm>
            <a:off x="312090" y="631546"/>
            <a:ext cx="45719" cy="4511954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350"/>
          </a:p>
        </p:txBody>
      </p:sp>
      <p:sp>
        <p:nvSpPr>
          <p:cNvPr id="18" name="Блок-схема: узел 17">
            <a:extLst>
              <a:ext uri="{FF2B5EF4-FFF2-40B4-BE49-F238E27FC236}">
                <a16:creationId xmlns:a16="http://schemas.microsoft.com/office/drawing/2014/main" id="{680AEFF7-1BC5-21C0-99C9-7F492BE22234}"/>
              </a:ext>
            </a:extLst>
          </p:cNvPr>
          <p:cNvSpPr/>
          <p:nvPr/>
        </p:nvSpPr>
        <p:spPr>
          <a:xfrm>
            <a:off x="241769" y="1100342"/>
            <a:ext cx="186359" cy="208722"/>
          </a:xfrm>
          <a:prstGeom prst="flowChartConnector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350"/>
          </a:p>
        </p:txBody>
      </p:sp>
      <p:sp>
        <p:nvSpPr>
          <p:cNvPr id="19" name="Блок-схема: узел 18">
            <a:extLst>
              <a:ext uri="{FF2B5EF4-FFF2-40B4-BE49-F238E27FC236}">
                <a16:creationId xmlns:a16="http://schemas.microsoft.com/office/drawing/2014/main" id="{56051442-B33E-E2AC-CE6A-E003C4AB5104}"/>
              </a:ext>
            </a:extLst>
          </p:cNvPr>
          <p:cNvSpPr/>
          <p:nvPr/>
        </p:nvSpPr>
        <p:spPr>
          <a:xfrm>
            <a:off x="241768" y="1795983"/>
            <a:ext cx="186359" cy="208722"/>
          </a:xfrm>
          <a:prstGeom prst="flowChartConnector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350" dirty="0"/>
          </a:p>
        </p:txBody>
      </p:sp>
      <p:sp>
        <p:nvSpPr>
          <p:cNvPr id="20" name="Блок-схема: узел 19">
            <a:extLst>
              <a:ext uri="{FF2B5EF4-FFF2-40B4-BE49-F238E27FC236}">
                <a16:creationId xmlns:a16="http://schemas.microsoft.com/office/drawing/2014/main" id="{AFE2D9B0-3F48-EA1B-5857-91DEB16FC9E2}"/>
              </a:ext>
            </a:extLst>
          </p:cNvPr>
          <p:cNvSpPr/>
          <p:nvPr/>
        </p:nvSpPr>
        <p:spPr>
          <a:xfrm>
            <a:off x="241767" y="2726793"/>
            <a:ext cx="186359" cy="208722"/>
          </a:xfrm>
          <a:prstGeom prst="flowChartConnector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350"/>
          </a:p>
        </p:txBody>
      </p:sp>
      <p:sp>
        <p:nvSpPr>
          <p:cNvPr id="21" name="Блок-схема: узел 20">
            <a:extLst>
              <a:ext uri="{FF2B5EF4-FFF2-40B4-BE49-F238E27FC236}">
                <a16:creationId xmlns:a16="http://schemas.microsoft.com/office/drawing/2014/main" id="{A2159A08-910F-3D2A-BDE5-60F18D6B5ABE}"/>
              </a:ext>
            </a:extLst>
          </p:cNvPr>
          <p:cNvSpPr/>
          <p:nvPr/>
        </p:nvSpPr>
        <p:spPr>
          <a:xfrm>
            <a:off x="241766" y="3738589"/>
            <a:ext cx="186359" cy="208722"/>
          </a:xfrm>
          <a:prstGeom prst="flowChartConnector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350"/>
          </a:p>
        </p:txBody>
      </p:sp>
      <p:sp>
        <p:nvSpPr>
          <p:cNvPr id="22" name="Блок-схема: узел 21">
            <a:extLst>
              <a:ext uri="{FF2B5EF4-FFF2-40B4-BE49-F238E27FC236}">
                <a16:creationId xmlns:a16="http://schemas.microsoft.com/office/drawing/2014/main" id="{AD3A8D95-E54A-E5B8-BA6E-6D5D085913B7}"/>
              </a:ext>
            </a:extLst>
          </p:cNvPr>
          <p:cNvSpPr/>
          <p:nvPr/>
        </p:nvSpPr>
        <p:spPr>
          <a:xfrm>
            <a:off x="237056" y="4646024"/>
            <a:ext cx="186359" cy="208722"/>
          </a:xfrm>
          <a:prstGeom prst="flowChartConnector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350"/>
          </a:p>
        </p:txBody>
      </p:sp>
      <p:sp>
        <p:nvSpPr>
          <p:cNvPr id="15" name="Объект 13">
            <a:extLst>
              <a:ext uri="{FF2B5EF4-FFF2-40B4-BE49-F238E27FC236}">
                <a16:creationId xmlns:a16="http://schemas.microsoft.com/office/drawing/2014/main" id="{111CF985-7C21-430C-A60F-D53E92BE985C}"/>
              </a:ext>
            </a:extLst>
          </p:cNvPr>
          <p:cNvSpPr txBox="1">
            <a:spLocks/>
          </p:cNvSpPr>
          <p:nvPr/>
        </p:nvSpPr>
        <p:spPr>
          <a:xfrm>
            <a:off x="441327" y="778787"/>
            <a:ext cx="3275117" cy="89255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>
              <a:defRPr sz="1300" b="0" i="1">
                <a:solidFill>
                  <a:srgbClr val="31384D"/>
                </a:solidFill>
                <a:latin typeface="Arial"/>
                <a:ea typeface="+mn-ea"/>
                <a:cs typeface="Arial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ru-RU" sz="1500" kern="0" spc="-10" dirty="0">
                <a:solidFill>
                  <a:schemeClr val="tx1"/>
                </a:solidFill>
                <a:latin typeface="Montserrat Medium" panose="00000600000000000000" pitchFamily="2" charset="-52"/>
              </a:rPr>
              <a:t>Содержание большого количества направления в науках</a:t>
            </a:r>
            <a:r>
              <a:rPr lang="en-US" sz="1500" kern="0" spc="-10" dirty="0">
                <a:solidFill>
                  <a:schemeClr val="tx1"/>
                </a:solidFill>
                <a:latin typeface="Montserrat Medium" panose="00000600000000000000" pitchFamily="2" charset="-52"/>
              </a:rPr>
              <a:t>.</a:t>
            </a:r>
            <a:endParaRPr lang="ru-RU" sz="1500" kern="0" dirty="0">
              <a:solidFill>
                <a:schemeClr val="tx1"/>
              </a:solidFill>
              <a:latin typeface="Montserrat Medium" panose="00000600000000000000" pitchFamily="2" charset="-52"/>
            </a:endParaRPr>
          </a:p>
          <a:p>
            <a:endParaRPr lang="ru-RU" kern="0" dirty="0"/>
          </a:p>
        </p:txBody>
      </p:sp>
      <p:sp>
        <p:nvSpPr>
          <p:cNvPr id="16" name="Объект 13">
            <a:extLst>
              <a:ext uri="{FF2B5EF4-FFF2-40B4-BE49-F238E27FC236}">
                <a16:creationId xmlns:a16="http://schemas.microsoft.com/office/drawing/2014/main" id="{221DEBD7-DB9D-4237-B47C-A90A1900C81C}"/>
              </a:ext>
            </a:extLst>
          </p:cNvPr>
          <p:cNvSpPr txBox="1">
            <a:spLocks/>
          </p:cNvSpPr>
          <p:nvPr/>
        </p:nvSpPr>
        <p:spPr>
          <a:xfrm>
            <a:off x="342690" y="3501035"/>
            <a:ext cx="3425167" cy="89255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>
              <a:defRPr sz="1300" b="0" i="1">
                <a:solidFill>
                  <a:srgbClr val="31384D"/>
                </a:solidFill>
                <a:latin typeface="Arial"/>
                <a:ea typeface="+mn-ea"/>
                <a:cs typeface="Arial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ru-RU" sz="1500" kern="0" spc="-10" dirty="0">
                <a:solidFill>
                  <a:schemeClr val="tx1"/>
                </a:solidFill>
                <a:latin typeface="Montserrat Medium" panose="00000600000000000000" pitchFamily="2" charset="-52"/>
              </a:rPr>
              <a:t>Возможность для работы над проектами, гипотезами, задачами</a:t>
            </a:r>
            <a:r>
              <a:rPr lang="en-US" sz="1500" kern="0" spc="-10" dirty="0">
                <a:solidFill>
                  <a:schemeClr val="tx1"/>
                </a:solidFill>
                <a:latin typeface="Montserrat Medium" panose="00000600000000000000" pitchFamily="2" charset="-52"/>
              </a:rPr>
              <a:t>.</a:t>
            </a:r>
            <a:endParaRPr lang="ru-RU" sz="1500" kern="0" spc="-10" dirty="0">
              <a:solidFill>
                <a:schemeClr val="tx1"/>
              </a:solidFill>
              <a:latin typeface="Montserrat Medium" panose="00000600000000000000" pitchFamily="2" charset="-52"/>
            </a:endParaRPr>
          </a:p>
          <a:p>
            <a:endParaRPr lang="ru-RU" kern="0" dirty="0"/>
          </a:p>
        </p:txBody>
      </p:sp>
      <p:sp>
        <p:nvSpPr>
          <p:cNvPr id="23" name="Объект 13">
            <a:extLst>
              <a:ext uri="{FF2B5EF4-FFF2-40B4-BE49-F238E27FC236}">
                <a16:creationId xmlns:a16="http://schemas.microsoft.com/office/drawing/2014/main" id="{EE92D9C8-EB6A-4C59-B642-8F1B9DFA49FC}"/>
              </a:ext>
            </a:extLst>
          </p:cNvPr>
          <p:cNvSpPr txBox="1">
            <a:spLocks/>
          </p:cNvSpPr>
          <p:nvPr/>
        </p:nvSpPr>
        <p:spPr>
          <a:xfrm>
            <a:off x="753163" y="2675925"/>
            <a:ext cx="2299170" cy="6617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>
              <a:defRPr sz="1300" b="0" i="1">
                <a:solidFill>
                  <a:srgbClr val="31384D"/>
                </a:solidFill>
                <a:latin typeface="Arial"/>
                <a:ea typeface="+mn-ea"/>
                <a:cs typeface="Arial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ru-RU" sz="1500" kern="0" spc="-10" dirty="0">
                <a:solidFill>
                  <a:schemeClr val="tx1"/>
                </a:solidFill>
                <a:latin typeface="Montserrat Medium" panose="00000600000000000000" pitchFamily="2" charset="-52"/>
              </a:rPr>
              <a:t>Доступ к информации с разных баз данных</a:t>
            </a:r>
            <a:r>
              <a:rPr lang="en-US" sz="1500" kern="0" spc="-10" dirty="0">
                <a:solidFill>
                  <a:schemeClr val="tx1"/>
                </a:solidFill>
                <a:latin typeface="Montserrat Medium" panose="00000600000000000000" pitchFamily="2" charset="-52"/>
              </a:rPr>
              <a:t>.</a:t>
            </a:r>
            <a:r>
              <a:rPr lang="ru-RU" sz="1500" kern="0" spc="-10" dirty="0">
                <a:solidFill>
                  <a:schemeClr val="tx1"/>
                </a:solidFill>
                <a:latin typeface="Montserrat Medium" panose="00000600000000000000" pitchFamily="2" charset="-52"/>
              </a:rPr>
              <a:t> </a:t>
            </a:r>
          </a:p>
          <a:p>
            <a:endParaRPr lang="ru-RU" kern="0" dirty="0"/>
          </a:p>
        </p:txBody>
      </p:sp>
      <p:sp>
        <p:nvSpPr>
          <p:cNvPr id="24" name="Объект 13">
            <a:extLst>
              <a:ext uri="{FF2B5EF4-FFF2-40B4-BE49-F238E27FC236}">
                <a16:creationId xmlns:a16="http://schemas.microsoft.com/office/drawing/2014/main" id="{6E1E8F65-F05D-453F-97C4-DC38BE7BB81A}"/>
              </a:ext>
            </a:extLst>
          </p:cNvPr>
          <p:cNvSpPr txBox="1">
            <a:spLocks/>
          </p:cNvSpPr>
          <p:nvPr/>
        </p:nvSpPr>
        <p:spPr>
          <a:xfrm>
            <a:off x="617850" y="4299775"/>
            <a:ext cx="2691269" cy="69249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>
              <a:defRPr sz="1300" b="0" i="1">
                <a:solidFill>
                  <a:srgbClr val="31384D"/>
                </a:solidFill>
                <a:latin typeface="Arial"/>
                <a:ea typeface="+mn-ea"/>
                <a:cs typeface="Arial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ru-RU" sz="1500" kern="0" spc="-10" dirty="0">
                <a:solidFill>
                  <a:schemeClr val="tx1"/>
                </a:solidFill>
                <a:latin typeface="Montserrat Medium" panose="00000600000000000000" pitchFamily="2" charset="-52"/>
              </a:rPr>
              <a:t>Оценивание ответов на вопросы специальными учеными-админами.</a:t>
            </a:r>
            <a:endParaRPr lang="ru-RU" kern="0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36114BB-FEBD-49D2-BC03-9297531B5746}"/>
              </a:ext>
            </a:extLst>
          </p:cNvPr>
          <p:cNvSpPr txBox="1"/>
          <p:nvPr/>
        </p:nvSpPr>
        <p:spPr>
          <a:xfrm>
            <a:off x="512346" y="1496873"/>
            <a:ext cx="2691269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1500" i="1" dirty="0">
                <a:latin typeface="Montserrat Medium" panose="00000600000000000000" pitchFamily="2" charset="-52"/>
              </a:rPr>
              <a:t>Упрощенная публикация статей и оценивание другими учеными</a:t>
            </a:r>
            <a:r>
              <a:rPr lang="en-US" sz="1500" i="1" dirty="0">
                <a:latin typeface="Montserrat Medium" panose="00000600000000000000" pitchFamily="2" charset="-52"/>
              </a:rPr>
              <a:t>.</a:t>
            </a:r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9CE505BB-097C-4492-955C-D9B049E0FD5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60494" y="1200150"/>
            <a:ext cx="5082290" cy="37485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112488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Tm="6129"/>
    </mc:Choice>
    <mc:Fallback>
      <p:transition advTm="6129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362200" y="92768"/>
            <a:ext cx="4114800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ru-RU" sz="3200" spc="15" dirty="0">
                <a:solidFill>
                  <a:srgbClr val="002F49"/>
                </a:solidFill>
                <a:latin typeface="Montserrat SemiBold" panose="00000700000000000000" pitchFamily="2" charset="-52"/>
                <a:cs typeface="Verdana"/>
              </a:rPr>
              <a:t>Главная страница</a:t>
            </a:r>
            <a:endParaRPr sz="3200" dirty="0">
              <a:latin typeface="Montserrat SemiBold" panose="00000700000000000000" pitchFamily="2" charset="-52"/>
              <a:cs typeface="Verdan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162800" y="1860854"/>
            <a:ext cx="1295400" cy="140846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4999"/>
              </a:lnSpc>
              <a:spcBef>
                <a:spcPts val="100"/>
              </a:spcBef>
            </a:pPr>
            <a:r>
              <a:rPr sz="1600" spc="-5" dirty="0">
                <a:solidFill>
                  <a:srgbClr val="31384D"/>
                </a:solidFill>
                <a:latin typeface="Montserrat Medium" panose="00000600000000000000" pitchFamily="2" charset="-52"/>
                <a:cs typeface="Roboto"/>
              </a:rPr>
              <a:t>Добавить</a:t>
            </a:r>
            <a:r>
              <a:rPr lang="ru-RU" sz="1600" spc="-5" dirty="0">
                <a:solidFill>
                  <a:srgbClr val="31384D"/>
                </a:solidFill>
                <a:latin typeface="Montserrat Medium" panose="00000600000000000000" pitchFamily="2" charset="-52"/>
                <a:cs typeface="Roboto"/>
              </a:rPr>
              <a:t> и посмотреть</a:t>
            </a:r>
            <a:r>
              <a:rPr sz="1600" spc="-5" dirty="0">
                <a:solidFill>
                  <a:srgbClr val="31384D"/>
                </a:solidFill>
                <a:latin typeface="Montserrat Medium" panose="00000600000000000000" pitchFamily="2" charset="-52"/>
                <a:cs typeface="Roboto"/>
              </a:rPr>
              <a:t> вопрос не </a:t>
            </a:r>
            <a:r>
              <a:rPr sz="1600" spc="-15" dirty="0">
                <a:solidFill>
                  <a:srgbClr val="31384D"/>
                </a:solidFill>
                <a:latin typeface="Montserrat Medium" panose="00000600000000000000" pitchFamily="2" charset="-52"/>
                <a:cs typeface="Roboto"/>
              </a:rPr>
              <a:t>является  </a:t>
            </a:r>
            <a:r>
              <a:rPr sz="1600" spc="-5" dirty="0">
                <a:solidFill>
                  <a:srgbClr val="31384D"/>
                </a:solidFill>
                <a:latin typeface="Montserrat Medium" panose="00000600000000000000" pitchFamily="2" charset="-52"/>
                <a:cs typeface="Roboto"/>
              </a:rPr>
              <a:t>проблемой </a:t>
            </a:r>
            <a:endParaRPr sz="1600" dirty="0">
              <a:latin typeface="Montserrat Medium" panose="00000600000000000000" pitchFamily="2" charset="-52"/>
              <a:cs typeface="Roboto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3949042" y="3898042"/>
            <a:ext cx="1230630" cy="45720"/>
          </a:xfrm>
          <a:custGeom>
            <a:avLst/>
            <a:gdLst/>
            <a:ahLst/>
            <a:cxnLst/>
            <a:rect l="l" t="t" r="r" b="b"/>
            <a:pathLst>
              <a:path w="1230629" h="45720">
                <a:moveTo>
                  <a:pt x="1207797" y="45599"/>
                </a:moveTo>
                <a:lnTo>
                  <a:pt x="16774" y="45599"/>
                </a:lnTo>
                <a:lnTo>
                  <a:pt x="10974" y="43199"/>
                </a:lnTo>
                <a:lnTo>
                  <a:pt x="2424" y="34649"/>
                </a:lnTo>
                <a:lnTo>
                  <a:pt x="0" y="28849"/>
                </a:lnTo>
                <a:lnTo>
                  <a:pt x="0" y="22799"/>
                </a:lnTo>
                <a:lnTo>
                  <a:pt x="1794" y="13921"/>
                </a:lnTo>
                <a:lnTo>
                  <a:pt x="6684" y="6674"/>
                </a:lnTo>
                <a:lnTo>
                  <a:pt x="13932" y="1790"/>
                </a:lnTo>
                <a:lnTo>
                  <a:pt x="22799" y="0"/>
                </a:lnTo>
                <a:lnTo>
                  <a:pt x="1207797" y="0"/>
                </a:lnTo>
                <a:lnTo>
                  <a:pt x="1216675" y="1790"/>
                </a:lnTo>
                <a:lnTo>
                  <a:pt x="1223922" y="6674"/>
                </a:lnTo>
                <a:lnTo>
                  <a:pt x="1228806" y="13921"/>
                </a:lnTo>
                <a:lnTo>
                  <a:pt x="1230597" y="22799"/>
                </a:lnTo>
                <a:lnTo>
                  <a:pt x="1228806" y="31667"/>
                </a:lnTo>
                <a:lnTo>
                  <a:pt x="1223922" y="38915"/>
                </a:lnTo>
                <a:lnTo>
                  <a:pt x="1216675" y="43805"/>
                </a:lnTo>
                <a:lnTo>
                  <a:pt x="1207797" y="45599"/>
                </a:lnTo>
                <a:close/>
              </a:path>
            </a:pathLst>
          </a:custGeom>
          <a:solidFill>
            <a:srgbClr val="D8D8D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8749626" y="4762426"/>
            <a:ext cx="224154" cy="1873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43180">
              <a:lnSpc>
                <a:spcPct val="100000"/>
              </a:lnSpc>
              <a:spcBef>
                <a:spcPts val="125"/>
              </a:spcBef>
            </a:pPr>
            <a:fld id="{81D60167-4931-47E6-BA6A-407CBD079E47}" type="slidenum">
              <a:rPr sz="1000" spc="-5" dirty="0">
                <a:solidFill>
                  <a:srgbClr val="666666"/>
                </a:solidFill>
                <a:latin typeface="Roboto"/>
                <a:cs typeface="Roboto"/>
              </a:rPr>
              <a:t>6</a:t>
            </a:fld>
            <a:endParaRPr sz="1000">
              <a:latin typeface="Roboto"/>
              <a:cs typeface="Roboto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E0C6162-5456-40BF-8BA1-6575689F8104}"/>
              </a:ext>
            </a:extLst>
          </p:cNvPr>
          <p:cNvSpPr txBox="1"/>
          <p:nvPr/>
        </p:nvSpPr>
        <p:spPr>
          <a:xfrm>
            <a:off x="152400" y="1860854"/>
            <a:ext cx="198120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000" dirty="0">
                <a:latin typeface="Montserrat Medium" panose="00000600000000000000" pitchFamily="2" charset="-52"/>
              </a:rPr>
              <a:t>Простой и удобный  функционал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CD2BFC3-36AA-4D08-A8B5-79F4F1D44C52}"/>
              </a:ext>
            </a:extLst>
          </p:cNvPr>
          <p:cNvSpPr txBox="1"/>
          <p:nvPr/>
        </p:nvSpPr>
        <p:spPr>
          <a:xfrm>
            <a:off x="404610" y="3566447"/>
            <a:ext cx="18288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>
                <a:latin typeface="Montserrat Medium" panose="00000600000000000000" pitchFamily="2" charset="-52"/>
              </a:rPr>
              <a:t>Быстрый доступ ко всем фишкам</a:t>
            </a:r>
          </a:p>
        </p:txBody>
      </p:sp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77D31497-BC35-4D52-8096-0A9302BEC78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27777" y="731305"/>
            <a:ext cx="4188314" cy="432377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Tm="6129"/>
    </mc:Choice>
    <mc:Fallback>
      <p:transition advTm="6129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200400" y="178708"/>
            <a:ext cx="2228215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ru-RU" sz="3200" spc="15" dirty="0">
                <a:solidFill>
                  <a:srgbClr val="002F49"/>
                </a:solidFill>
                <a:latin typeface="Montserrat SemiBold" panose="00000700000000000000" pitchFamily="2" charset="-52"/>
                <a:cs typeface="Verdana"/>
              </a:rPr>
              <a:t>Разделы</a:t>
            </a:r>
            <a:endParaRPr sz="3200" dirty="0">
              <a:latin typeface="Montserrat SemiBold" panose="00000700000000000000" pitchFamily="2" charset="-52"/>
              <a:cs typeface="Verdana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81000" y="1522232"/>
            <a:ext cx="2957928" cy="6955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ctr">
              <a:lnSpc>
                <a:spcPct val="114999"/>
              </a:lnSpc>
              <a:spcBef>
                <a:spcPts val="100"/>
              </a:spcBef>
            </a:pPr>
            <a:r>
              <a:rPr lang="ru-RU" sz="2000" spc="60" dirty="0">
                <a:latin typeface="Montserrat Medium" panose="00000600000000000000" pitchFamily="2" charset="-52"/>
              </a:rPr>
              <a:t>Доступ к разным направлениям наук</a:t>
            </a:r>
            <a:endParaRPr sz="2000" dirty="0">
              <a:latin typeface="Montserrat Medium" panose="00000600000000000000" pitchFamily="2" charset="-52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92452" y="4173476"/>
            <a:ext cx="3110327" cy="587981"/>
          </a:xfrm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12700" marR="5080">
              <a:lnSpc>
                <a:spcPts val="1050"/>
              </a:lnSpc>
              <a:spcBef>
                <a:spcPts val="185"/>
              </a:spcBef>
            </a:pPr>
            <a:r>
              <a:rPr lang="ru-RU" sz="1100" spc="10" dirty="0">
                <a:solidFill>
                  <a:srgbClr val="31384D"/>
                </a:solidFill>
                <a:latin typeface="Montserrat Medium" panose="00000600000000000000" pitchFamily="2" charset="-52"/>
                <a:cs typeface="Roboto"/>
              </a:rPr>
              <a:t>У всех сфер наук есть возможность дискутировать, а также задавать вопросы в отдельном окне для обсуждения каких-то тем </a:t>
            </a:r>
            <a:endParaRPr sz="1100" dirty="0">
              <a:latin typeface="Montserrat Medium" panose="00000600000000000000" pitchFamily="2" charset="-52"/>
              <a:cs typeface="Roboto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8749626" y="4762426"/>
            <a:ext cx="224154" cy="1873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43180">
              <a:lnSpc>
                <a:spcPct val="100000"/>
              </a:lnSpc>
              <a:spcBef>
                <a:spcPts val="125"/>
              </a:spcBef>
            </a:pPr>
            <a:fld id="{81D60167-4931-47E6-BA6A-407CBD079E47}" type="slidenum">
              <a:rPr sz="1000" spc="-5" dirty="0">
                <a:solidFill>
                  <a:srgbClr val="666666"/>
                </a:solidFill>
                <a:latin typeface="Roboto"/>
                <a:cs typeface="Roboto"/>
              </a:rPr>
              <a:t>7</a:t>
            </a:fld>
            <a:endParaRPr sz="1000">
              <a:latin typeface="Roboto"/>
              <a:cs typeface="Roboto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3CC4A9A-04EB-435A-8CDF-21436A32ECD1}"/>
              </a:ext>
            </a:extLst>
          </p:cNvPr>
          <p:cNvSpPr txBox="1"/>
          <p:nvPr/>
        </p:nvSpPr>
        <p:spPr>
          <a:xfrm>
            <a:off x="676405" y="2709852"/>
            <a:ext cx="2523995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>
                <a:latin typeface="Montserrat Medium" panose="00000600000000000000" pitchFamily="2" charset="-52"/>
              </a:rPr>
              <a:t>Доступ ко всем допустимым разделам наук</a:t>
            </a:r>
          </a:p>
        </p:txBody>
      </p:sp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388E15CD-0D2B-48E1-80C0-4F6B6A4133A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15758" y="971550"/>
            <a:ext cx="5458022" cy="38862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Tm="6129"/>
    </mc:Choice>
    <mc:Fallback>
      <p:transition advTm="6129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457892" y="226037"/>
            <a:ext cx="2228215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ru-RU" sz="3200" spc="15" dirty="0">
                <a:solidFill>
                  <a:srgbClr val="002F49"/>
                </a:solidFill>
                <a:latin typeface="Montserrat SemiBold" panose="00000700000000000000" pitchFamily="2" charset="-52"/>
                <a:cs typeface="Verdana"/>
              </a:rPr>
              <a:t>Статьи</a:t>
            </a:r>
            <a:endParaRPr sz="3200" dirty="0">
              <a:latin typeface="Montserrat SemiBold" panose="00000700000000000000" pitchFamily="2" charset="-52"/>
              <a:cs typeface="Verdana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330347" y="971550"/>
            <a:ext cx="2099945" cy="9366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4999"/>
              </a:lnSpc>
              <a:spcBef>
                <a:spcPts val="100"/>
              </a:spcBef>
            </a:pPr>
            <a:r>
              <a:rPr lang="ru-RU" sz="1800" spc="90" dirty="0">
                <a:solidFill>
                  <a:schemeClr val="accent1">
                    <a:lumMod val="50000"/>
                  </a:schemeClr>
                </a:solidFill>
              </a:rPr>
              <a:t>Большое количество научных статей </a:t>
            </a:r>
            <a:endParaRPr sz="18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8749626" y="4762426"/>
            <a:ext cx="224154" cy="1873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43180">
              <a:lnSpc>
                <a:spcPct val="100000"/>
              </a:lnSpc>
              <a:spcBef>
                <a:spcPts val="125"/>
              </a:spcBef>
            </a:pPr>
            <a:fld id="{81D60167-4931-47E6-BA6A-407CBD079E47}" type="slidenum">
              <a:rPr sz="1000" spc="-5" dirty="0">
                <a:solidFill>
                  <a:srgbClr val="666666"/>
                </a:solidFill>
                <a:latin typeface="Roboto"/>
                <a:cs typeface="Roboto"/>
              </a:rPr>
              <a:t>8</a:t>
            </a:fld>
            <a:endParaRPr sz="1000">
              <a:latin typeface="Roboto"/>
              <a:cs typeface="Roboto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7F38FE0-CBC9-44E2-AC16-8561B6B0CD9D}"/>
              </a:ext>
            </a:extLst>
          </p:cNvPr>
          <p:cNvSpPr txBox="1"/>
          <p:nvPr/>
        </p:nvSpPr>
        <p:spPr>
          <a:xfrm>
            <a:off x="381000" y="3867150"/>
            <a:ext cx="2887917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>
                <a:solidFill>
                  <a:schemeClr val="accent1">
                    <a:lumMod val="50000"/>
                  </a:schemeClr>
                </a:solidFill>
                <a:latin typeface="Montserrat Medium" panose="00000600000000000000" pitchFamily="2" charset="-52"/>
              </a:rPr>
              <a:t>Доступ к достоверным подборкам статей из мировых изданий</a:t>
            </a:r>
          </a:p>
        </p:txBody>
      </p:sp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04AD12C8-031C-47CB-9027-ECB58D43179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89718" y="1123950"/>
            <a:ext cx="5384062" cy="3638476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1135A3A6-2F05-48D5-B275-BE7E39D87F5E}"/>
              </a:ext>
            </a:extLst>
          </p:cNvPr>
          <p:cNvSpPr txBox="1"/>
          <p:nvPr/>
        </p:nvSpPr>
        <p:spPr>
          <a:xfrm>
            <a:off x="914400" y="2343023"/>
            <a:ext cx="2286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>
                <a:solidFill>
                  <a:schemeClr val="accent1">
                    <a:lumMod val="50000"/>
                  </a:schemeClr>
                </a:solidFill>
                <a:latin typeface="Montserrat Medium" panose="00000600000000000000" pitchFamily="2" charset="-52"/>
              </a:rPr>
              <a:t>Интеграция  статей с разных ресурсов, введя на поиск </a:t>
            </a:r>
            <a:endParaRPr lang="en-US" dirty="0">
              <a:solidFill>
                <a:schemeClr val="accent1">
                  <a:lumMod val="50000"/>
                </a:schemeClr>
              </a:solidFill>
              <a:latin typeface="Montserrat Medium" panose="00000600000000000000" pitchFamily="2" charset="-5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Tm="6129"/>
    </mc:Choice>
    <mc:Fallback>
      <p:transition advTm="6129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327543" y="86118"/>
            <a:ext cx="6335093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spc="55" dirty="0">
                <a:latin typeface="Montserrat SemiBold" panose="00000700000000000000" pitchFamily="2" charset="-52"/>
              </a:rPr>
              <a:t>Сроки </a:t>
            </a:r>
            <a:r>
              <a:rPr sz="3200" spc="45" dirty="0">
                <a:latin typeface="Montserrat SemiBold" panose="00000700000000000000" pitchFamily="2" charset="-52"/>
              </a:rPr>
              <a:t>разработки</a:t>
            </a:r>
            <a:r>
              <a:rPr sz="3200" spc="-690" dirty="0">
                <a:latin typeface="Montserrat SemiBold" panose="00000700000000000000" pitchFamily="2" charset="-52"/>
              </a:rPr>
              <a:t> </a:t>
            </a:r>
            <a:r>
              <a:rPr sz="3200" spc="60" dirty="0">
                <a:latin typeface="Montserrat SemiBold" panose="00000700000000000000" pitchFamily="2" charset="-52"/>
              </a:rPr>
              <a:t>продукта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651138" y="2326515"/>
            <a:ext cx="1403985" cy="1471295"/>
            <a:chOff x="651138" y="2326515"/>
            <a:chExt cx="1403985" cy="1471295"/>
          </a:xfrm>
        </p:grpSpPr>
        <p:sp>
          <p:nvSpPr>
            <p:cNvPr id="4" name="object 4"/>
            <p:cNvSpPr/>
            <p:nvPr/>
          </p:nvSpPr>
          <p:spPr>
            <a:xfrm>
              <a:off x="1250107" y="2972919"/>
              <a:ext cx="0" cy="774700"/>
            </a:xfrm>
            <a:custGeom>
              <a:avLst/>
              <a:gdLst/>
              <a:ahLst/>
              <a:cxnLst/>
              <a:rect l="l" t="t" r="r" b="b"/>
              <a:pathLst>
                <a:path h="774700">
                  <a:moveTo>
                    <a:pt x="0" y="0"/>
                  </a:moveTo>
                  <a:lnTo>
                    <a:pt x="0" y="774223"/>
                  </a:lnTo>
                </a:path>
              </a:pathLst>
            </a:custGeom>
            <a:ln w="9524">
              <a:solidFill>
                <a:srgbClr val="00938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234245" y="3747142"/>
              <a:ext cx="31750" cy="45720"/>
            </a:xfrm>
            <a:custGeom>
              <a:avLst/>
              <a:gdLst/>
              <a:ahLst/>
              <a:cxnLst/>
              <a:rect l="l" t="t" r="r" b="b"/>
              <a:pathLst>
                <a:path w="31750" h="45720">
                  <a:moveTo>
                    <a:pt x="15862" y="45324"/>
                  </a:moveTo>
                  <a:lnTo>
                    <a:pt x="0" y="22649"/>
                  </a:lnTo>
                  <a:lnTo>
                    <a:pt x="15862" y="0"/>
                  </a:lnTo>
                  <a:lnTo>
                    <a:pt x="31724" y="22649"/>
                  </a:lnTo>
                  <a:lnTo>
                    <a:pt x="15862" y="45324"/>
                  </a:lnTo>
                  <a:close/>
                </a:path>
              </a:pathLst>
            </a:custGeom>
            <a:solidFill>
              <a:srgbClr val="00938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234245" y="3747142"/>
              <a:ext cx="31750" cy="45720"/>
            </a:xfrm>
            <a:custGeom>
              <a:avLst/>
              <a:gdLst/>
              <a:ahLst/>
              <a:cxnLst/>
              <a:rect l="l" t="t" r="r" b="b"/>
              <a:pathLst>
                <a:path w="31750" h="45720">
                  <a:moveTo>
                    <a:pt x="15862" y="0"/>
                  </a:moveTo>
                  <a:lnTo>
                    <a:pt x="0" y="22649"/>
                  </a:lnTo>
                  <a:lnTo>
                    <a:pt x="15862" y="45324"/>
                  </a:lnTo>
                  <a:lnTo>
                    <a:pt x="31724" y="22649"/>
                  </a:lnTo>
                  <a:lnTo>
                    <a:pt x="15862" y="0"/>
                  </a:lnTo>
                  <a:close/>
                </a:path>
              </a:pathLst>
            </a:custGeom>
            <a:ln w="9524">
              <a:solidFill>
                <a:srgbClr val="00938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651138" y="2326515"/>
              <a:ext cx="1403985" cy="720725"/>
            </a:xfrm>
            <a:custGeom>
              <a:avLst/>
              <a:gdLst/>
              <a:ahLst/>
              <a:cxnLst/>
              <a:rect l="l" t="t" r="r" b="b"/>
              <a:pathLst>
                <a:path w="1403985" h="720725">
                  <a:moveTo>
                    <a:pt x="1043320" y="720103"/>
                  </a:moveTo>
                  <a:lnTo>
                    <a:pt x="0" y="720103"/>
                  </a:lnTo>
                  <a:lnTo>
                    <a:pt x="360046" y="360054"/>
                  </a:lnTo>
                  <a:lnTo>
                    <a:pt x="0" y="0"/>
                  </a:lnTo>
                  <a:lnTo>
                    <a:pt x="1043320" y="0"/>
                  </a:lnTo>
                  <a:lnTo>
                    <a:pt x="1403367" y="360054"/>
                  </a:lnTo>
                  <a:lnTo>
                    <a:pt x="1043320" y="720103"/>
                  </a:lnTo>
                  <a:close/>
                </a:path>
              </a:pathLst>
            </a:custGeom>
            <a:solidFill>
              <a:srgbClr val="002F4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752080" y="2427457"/>
              <a:ext cx="1302385" cy="518159"/>
            </a:xfrm>
            <a:custGeom>
              <a:avLst/>
              <a:gdLst/>
              <a:ahLst/>
              <a:cxnLst/>
              <a:rect l="l" t="t" r="r" b="b"/>
              <a:pathLst>
                <a:path w="1302385" h="518160">
                  <a:moveTo>
                    <a:pt x="1043262" y="518111"/>
                  </a:moveTo>
                  <a:lnTo>
                    <a:pt x="0" y="518111"/>
                  </a:lnTo>
                  <a:lnTo>
                    <a:pt x="259056" y="259061"/>
                  </a:lnTo>
                  <a:lnTo>
                    <a:pt x="0" y="0"/>
                  </a:lnTo>
                  <a:lnTo>
                    <a:pt x="1043260" y="0"/>
                  </a:lnTo>
                  <a:lnTo>
                    <a:pt x="1302317" y="259061"/>
                  </a:lnTo>
                  <a:lnTo>
                    <a:pt x="1043262" y="518111"/>
                  </a:lnTo>
                  <a:close/>
                </a:path>
              </a:pathLst>
            </a:custGeom>
            <a:solidFill>
              <a:srgbClr val="31384D">
                <a:alpha val="2470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1093529" y="2534057"/>
            <a:ext cx="744839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ru-RU" sz="1400" spc="-5" dirty="0">
                <a:solidFill>
                  <a:srgbClr val="FFFFFF"/>
                </a:solidFill>
                <a:latin typeface="Montserrat Medium" panose="00000600000000000000" pitchFamily="2" charset="-52"/>
                <a:cs typeface="Arial"/>
              </a:rPr>
              <a:t>Ноябрь</a:t>
            </a:r>
            <a:endParaRPr sz="1400" dirty="0">
              <a:latin typeface="Montserrat Medium" panose="00000600000000000000" pitchFamily="2" charset="-52"/>
              <a:cs typeface="Arial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1738081" y="1538479"/>
            <a:ext cx="1403985" cy="1508760"/>
            <a:chOff x="1738081" y="1538479"/>
            <a:chExt cx="1403985" cy="1508760"/>
          </a:xfrm>
        </p:grpSpPr>
        <p:sp>
          <p:nvSpPr>
            <p:cNvPr id="12" name="object 12"/>
            <p:cNvSpPr/>
            <p:nvPr/>
          </p:nvSpPr>
          <p:spPr>
            <a:xfrm>
              <a:off x="2337052" y="1588549"/>
              <a:ext cx="0" cy="774700"/>
            </a:xfrm>
            <a:custGeom>
              <a:avLst/>
              <a:gdLst/>
              <a:ahLst/>
              <a:cxnLst/>
              <a:rect l="l" t="t" r="r" b="b"/>
              <a:pathLst>
                <a:path h="774700">
                  <a:moveTo>
                    <a:pt x="0" y="774225"/>
                  </a:moveTo>
                  <a:lnTo>
                    <a:pt x="0" y="0"/>
                  </a:lnTo>
                </a:path>
              </a:pathLst>
            </a:custGeom>
            <a:ln w="9524">
              <a:solidFill>
                <a:srgbClr val="00938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2321190" y="1543241"/>
              <a:ext cx="31750" cy="45720"/>
            </a:xfrm>
            <a:custGeom>
              <a:avLst/>
              <a:gdLst/>
              <a:ahLst/>
              <a:cxnLst/>
              <a:rect l="l" t="t" r="r" b="b"/>
              <a:pathLst>
                <a:path w="31750" h="45719">
                  <a:moveTo>
                    <a:pt x="15862" y="45307"/>
                  </a:moveTo>
                  <a:lnTo>
                    <a:pt x="0" y="22652"/>
                  </a:lnTo>
                  <a:lnTo>
                    <a:pt x="15862" y="0"/>
                  </a:lnTo>
                  <a:lnTo>
                    <a:pt x="31724" y="22652"/>
                  </a:lnTo>
                  <a:lnTo>
                    <a:pt x="15862" y="45307"/>
                  </a:lnTo>
                  <a:close/>
                </a:path>
              </a:pathLst>
            </a:custGeom>
            <a:solidFill>
              <a:srgbClr val="00938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2321190" y="1543241"/>
              <a:ext cx="31750" cy="45720"/>
            </a:xfrm>
            <a:custGeom>
              <a:avLst/>
              <a:gdLst/>
              <a:ahLst/>
              <a:cxnLst/>
              <a:rect l="l" t="t" r="r" b="b"/>
              <a:pathLst>
                <a:path w="31750" h="45719">
                  <a:moveTo>
                    <a:pt x="15862" y="45307"/>
                  </a:moveTo>
                  <a:lnTo>
                    <a:pt x="31724" y="22652"/>
                  </a:lnTo>
                  <a:lnTo>
                    <a:pt x="15862" y="0"/>
                  </a:lnTo>
                  <a:lnTo>
                    <a:pt x="0" y="22652"/>
                  </a:lnTo>
                  <a:lnTo>
                    <a:pt x="15862" y="45307"/>
                  </a:lnTo>
                  <a:close/>
                </a:path>
              </a:pathLst>
            </a:custGeom>
            <a:ln w="9524">
              <a:solidFill>
                <a:srgbClr val="00938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1738081" y="2326515"/>
              <a:ext cx="1403985" cy="720725"/>
            </a:xfrm>
            <a:custGeom>
              <a:avLst/>
              <a:gdLst/>
              <a:ahLst/>
              <a:cxnLst/>
              <a:rect l="l" t="t" r="r" b="b"/>
              <a:pathLst>
                <a:path w="1403985" h="720725">
                  <a:moveTo>
                    <a:pt x="1043312" y="720103"/>
                  </a:moveTo>
                  <a:lnTo>
                    <a:pt x="0" y="720103"/>
                  </a:lnTo>
                  <a:lnTo>
                    <a:pt x="360046" y="360054"/>
                  </a:lnTo>
                  <a:lnTo>
                    <a:pt x="0" y="0"/>
                  </a:lnTo>
                  <a:lnTo>
                    <a:pt x="1043312" y="0"/>
                  </a:lnTo>
                  <a:lnTo>
                    <a:pt x="1403362" y="360054"/>
                  </a:lnTo>
                  <a:lnTo>
                    <a:pt x="1043312" y="720103"/>
                  </a:lnTo>
                  <a:close/>
                </a:path>
              </a:pathLst>
            </a:custGeom>
            <a:solidFill>
              <a:schemeClr val="bg1">
                <a:lumMod val="75000"/>
              </a:scheme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1839026" y="2427457"/>
              <a:ext cx="1302385" cy="518159"/>
            </a:xfrm>
            <a:custGeom>
              <a:avLst/>
              <a:gdLst/>
              <a:ahLst/>
              <a:cxnLst/>
              <a:rect l="l" t="t" r="r" b="b"/>
              <a:pathLst>
                <a:path w="1302385" h="518160">
                  <a:moveTo>
                    <a:pt x="1043267" y="518111"/>
                  </a:moveTo>
                  <a:lnTo>
                    <a:pt x="0" y="518111"/>
                  </a:lnTo>
                  <a:lnTo>
                    <a:pt x="259056" y="259061"/>
                  </a:lnTo>
                  <a:lnTo>
                    <a:pt x="0" y="0"/>
                  </a:lnTo>
                  <a:lnTo>
                    <a:pt x="1043267" y="0"/>
                  </a:lnTo>
                  <a:lnTo>
                    <a:pt x="1302317" y="259061"/>
                  </a:lnTo>
                  <a:lnTo>
                    <a:pt x="1043267" y="518111"/>
                  </a:lnTo>
                  <a:close/>
                </a:path>
              </a:pathLst>
            </a:custGeom>
            <a:solidFill>
              <a:schemeClr val="bg1">
                <a:lumMod val="75000"/>
                <a:alpha val="24708"/>
              </a:schemeClr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2147096" y="2537985"/>
            <a:ext cx="874725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ru-RU" sz="1400" spc="-5" dirty="0">
                <a:solidFill>
                  <a:srgbClr val="FFFFFF"/>
                </a:solidFill>
                <a:latin typeface="Montserrat Medium" panose="00000600000000000000" pitchFamily="2" charset="-52"/>
                <a:cs typeface="Arial"/>
              </a:rPr>
              <a:t>Декабрь</a:t>
            </a:r>
            <a:endParaRPr sz="1400" dirty="0">
              <a:latin typeface="Montserrat Medium" panose="00000600000000000000" pitchFamily="2" charset="-52"/>
              <a:cs typeface="Arial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2831863" y="2326515"/>
            <a:ext cx="1403985" cy="1471295"/>
            <a:chOff x="2825019" y="2326515"/>
            <a:chExt cx="1403985" cy="1471295"/>
          </a:xfrm>
        </p:grpSpPr>
        <p:sp>
          <p:nvSpPr>
            <p:cNvPr id="19" name="object 19"/>
            <p:cNvSpPr/>
            <p:nvPr/>
          </p:nvSpPr>
          <p:spPr>
            <a:xfrm>
              <a:off x="3423993" y="2972919"/>
              <a:ext cx="0" cy="774700"/>
            </a:xfrm>
            <a:custGeom>
              <a:avLst/>
              <a:gdLst/>
              <a:ahLst/>
              <a:cxnLst/>
              <a:rect l="l" t="t" r="r" b="b"/>
              <a:pathLst>
                <a:path h="774700">
                  <a:moveTo>
                    <a:pt x="0" y="0"/>
                  </a:moveTo>
                  <a:lnTo>
                    <a:pt x="0" y="774223"/>
                  </a:lnTo>
                </a:path>
              </a:pathLst>
            </a:custGeom>
            <a:ln w="9524">
              <a:solidFill>
                <a:srgbClr val="00938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3408143" y="3747142"/>
              <a:ext cx="31750" cy="45720"/>
            </a:xfrm>
            <a:custGeom>
              <a:avLst/>
              <a:gdLst/>
              <a:ahLst/>
              <a:cxnLst/>
              <a:rect l="l" t="t" r="r" b="b"/>
              <a:pathLst>
                <a:path w="31750" h="45720">
                  <a:moveTo>
                    <a:pt x="15849" y="45324"/>
                  </a:moveTo>
                  <a:lnTo>
                    <a:pt x="0" y="22649"/>
                  </a:lnTo>
                  <a:lnTo>
                    <a:pt x="15849" y="0"/>
                  </a:lnTo>
                  <a:lnTo>
                    <a:pt x="31724" y="22649"/>
                  </a:lnTo>
                  <a:lnTo>
                    <a:pt x="15849" y="45324"/>
                  </a:lnTo>
                  <a:close/>
                </a:path>
              </a:pathLst>
            </a:custGeom>
            <a:solidFill>
              <a:srgbClr val="00938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3408143" y="3747142"/>
              <a:ext cx="31750" cy="45720"/>
            </a:xfrm>
            <a:custGeom>
              <a:avLst/>
              <a:gdLst/>
              <a:ahLst/>
              <a:cxnLst/>
              <a:rect l="l" t="t" r="r" b="b"/>
              <a:pathLst>
                <a:path w="31750" h="45720">
                  <a:moveTo>
                    <a:pt x="15849" y="0"/>
                  </a:moveTo>
                  <a:lnTo>
                    <a:pt x="0" y="22649"/>
                  </a:lnTo>
                  <a:lnTo>
                    <a:pt x="15849" y="45324"/>
                  </a:lnTo>
                  <a:lnTo>
                    <a:pt x="31724" y="22649"/>
                  </a:lnTo>
                  <a:lnTo>
                    <a:pt x="15849" y="0"/>
                  </a:lnTo>
                  <a:close/>
                </a:path>
              </a:pathLst>
            </a:custGeom>
            <a:ln w="9524">
              <a:solidFill>
                <a:srgbClr val="00938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2825019" y="2326515"/>
              <a:ext cx="1403985" cy="720725"/>
            </a:xfrm>
            <a:custGeom>
              <a:avLst/>
              <a:gdLst/>
              <a:ahLst/>
              <a:cxnLst/>
              <a:rect l="l" t="t" r="r" b="b"/>
              <a:pathLst>
                <a:path w="1403985" h="720725">
                  <a:moveTo>
                    <a:pt x="1043322" y="720103"/>
                  </a:moveTo>
                  <a:lnTo>
                    <a:pt x="0" y="720103"/>
                  </a:lnTo>
                  <a:lnTo>
                    <a:pt x="360049" y="360054"/>
                  </a:lnTo>
                  <a:lnTo>
                    <a:pt x="0" y="0"/>
                  </a:lnTo>
                  <a:lnTo>
                    <a:pt x="1043322" y="0"/>
                  </a:lnTo>
                  <a:lnTo>
                    <a:pt x="1403372" y="360054"/>
                  </a:lnTo>
                  <a:lnTo>
                    <a:pt x="1043322" y="720103"/>
                  </a:lnTo>
                  <a:close/>
                </a:path>
              </a:pathLst>
            </a:custGeom>
            <a:solidFill>
              <a:srgbClr val="002F4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2925969" y="2427457"/>
              <a:ext cx="1302385" cy="518159"/>
            </a:xfrm>
            <a:custGeom>
              <a:avLst/>
              <a:gdLst/>
              <a:ahLst/>
              <a:cxnLst/>
              <a:rect l="l" t="t" r="r" b="b"/>
              <a:pathLst>
                <a:path w="1302385" h="518160">
                  <a:moveTo>
                    <a:pt x="1043272" y="518111"/>
                  </a:moveTo>
                  <a:lnTo>
                    <a:pt x="0" y="518111"/>
                  </a:lnTo>
                  <a:lnTo>
                    <a:pt x="259049" y="259061"/>
                  </a:lnTo>
                  <a:lnTo>
                    <a:pt x="0" y="0"/>
                  </a:lnTo>
                  <a:lnTo>
                    <a:pt x="1043272" y="0"/>
                  </a:lnTo>
                  <a:lnTo>
                    <a:pt x="1302322" y="259061"/>
                  </a:lnTo>
                  <a:lnTo>
                    <a:pt x="1043272" y="518111"/>
                  </a:lnTo>
                  <a:close/>
                </a:path>
              </a:pathLst>
            </a:custGeom>
            <a:solidFill>
              <a:srgbClr val="31384D">
                <a:alpha val="2470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24"/>
          <p:cNvSpPr txBox="1"/>
          <p:nvPr/>
        </p:nvSpPr>
        <p:spPr>
          <a:xfrm>
            <a:off x="3310362" y="2546878"/>
            <a:ext cx="734000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ru-RU" sz="1400" spc="-5" dirty="0">
                <a:solidFill>
                  <a:srgbClr val="FFFFFF"/>
                </a:solidFill>
                <a:latin typeface="Montserrat Medium" panose="00000600000000000000" pitchFamily="2" charset="-52"/>
                <a:cs typeface="Arial"/>
              </a:rPr>
              <a:t>Январь</a:t>
            </a:r>
            <a:endParaRPr sz="1400" dirty="0">
              <a:latin typeface="Montserrat Medium" panose="00000600000000000000" pitchFamily="2" charset="-52"/>
              <a:cs typeface="Arial"/>
            </a:endParaRPr>
          </a:p>
        </p:txBody>
      </p:sp>
      <p:grpSp>
        <p:nvGrpSpPr>
          <p:cNvPr id="26" name="object 26"/>
          <p:cNvGrpSpPr/>
          <p:nvPr/>
        </p:nvGrpSpPr>
        <p:grpSpPr>
          <a:xfrm>
            <a:off x="3911967" y="1538479"/>
            <a:ext cx="1403985" cy="1508760"/>
            <a:chOff x="3911967" y="1538479"/>
            <a:chExt cx="1403985" cy="1508760"/>
          </a:xfrm>
          <a:solidFill>
            <a:schemeClr val="bg1">
              <a:lumMod val="75000"/>
            </a:schemeClr>
          </a:solidFill>
        </p:grpSpPr>
        <p:sp>
          <p:nvSpPr>
            <p:cNvPr id="27" name="object 27"/>
            <p:cNvSpPr/>
            <p:nvPr/>
          </p:nvSpPr>
          <p:spPr>
            <a:xfrm>
              <a:off x="4510940" y="1588546"/>
              <a:ext cx="0" cy="774700"/>
            </a:xfrm>
            <a:custGeom>
              <a:avLst/>
              <a:gdLst/>
              <a:ahLst/>
              <a:cxnLst/>
              <a:rect l="l" t="t" r="r" b="b"/>
              <a:pathLst>
                <a:path h="774700">
                  <a:moveTo>
                    <a:pt x="0" y="774228"/>
                  </a:moveTo>
                  <a:lnTo>
                    <a:pt x="0" y="0"/>
                  </a:lnTo>
                </a:path>
              </a:pathLst>
            </a:custGeom>
            <a:grpFill/>
            <a:ln w="9524">
              <a:solidFill>
                <a:srgbClr val="00938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4495090" y="1543241"/>
              <a:ext cx="31750" cy="45720"/>
            </a:xfrm>
            <a:custGeom>
              <a:avLst/>
              <a:gdLst/>
              <a:ahLst/>
              <a:cxnLst/>
              <a:rect l="l" t="t" r="r" b="b"/>
              <a:pathLst>
                <a:path w="31750" h="45719">
                  <a:moveTo>
                    <a:pt x="15849" y="45304"/>
                  </a:moveTo>
                  <a:lnTo>
                    <a:pt x="0" y="22652"/>
                  </a:lnTo>
                  <a:lnTo>
                    <a:pt x="15849" y="0"/>
                  </a:lnTo>
                  <a:lnTo>
                    <a:pt x="31699" y="22652"/>
                  </a:lnTo>
                  <a:lnTo>
                    <a:pt x="15849" y="45304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4495090" y="1543241"/>
              <a:ext cx="31750" cy="45720"/>
            </a:xfrm>
            <a:custGeom>
              <a:avLst/>
              <a:gdLst/>
              <a:ahLst/>
              <a:cxnLst/>
              <a:rect l="l" t="t" r="r" b="b"/>
              <a:pathLst>
                <a:path w="31750" h="45719">
                  <a:moveTo>
                    <a:pt x="15849" y="45304"/>
                  </a:moveTo>
                  <a:lnTo>
                    <a:pt x="31699" y="22652"/>
                  </a:lnTo>
                  <a:lnTo>
                    <a:pt x="15849" y="0"/>
                  </a:lnTo>
                  <a:lnTo>
                    <a:pt x="0" y="22652"/>
                  </a:lnTo>
                  <a:lnTo>
                    <a:pt x="15849" y="45304"/>
                  </a:lnTo>
                  <a:close/>
                </a:path>
              </a:pathLst>
            </a:custGeom>
            <a:grpFill/>
            <a:ln w="9524">
              <a:solidFill>
                <a:srgbClr val="00938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3911967" y="2326515"/>
              <a:ext cx="1403985" cy="720725"/>
            </a:xfrm>
            <a:custGeom>
              <a:avLst/>
              <a:gdLst/>
              <a:ahLst/>
              <a:cxnLst/>
              <a:rect l="l" t="t" r="r" b="b"/>
              <a:pathLst>
                <a:path w="1403985" h="720725">
                  <a:moveTo>
                    <a:pt x="1043322" y="720103"/>
                  </a:moveTo>
                  <a:lnTo>
                    <a:pt x="0" y="720103"/>
                  </a:lnTo>
                  <a:lnTo>
                    <a:pt x="360049" y="360054"/>
                  </a:lnTo>
                  <a:lnTo>
                    <a:pt x="0" y="0"/>
                  </a:lnTo>
                  <a:lnTo>
                    <a:pt x="1043322" y="0"/>
                  </a:lnTo>
                  <a:lnTo>
                    <a:pt x="1403372" y="360054"/>
                  </a:lnTo>
                  <a:lnTo>
                    <a:pt x="1043322" y="720103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4012916" y="2427457"/>
              <a:ext cx="1302385" cy="518159"/>
            </a:xfrm>
            <a:custGeom>
              <a:avLst/>
              <a:gdLst/>
              <a:ahLst/>
              <a:cxnLst/>
              <a:rect l="l" t="t" r="r" b="b"/>
              <a:pathLst>
                <a:path w="1302385" h="518160">
                  <a:moveTo>
                    <a:pt x="1043247" y="518111"/>
                  </a:moveTo>
                  <a:lnTo>
                    <a:pt x="0" y="518111"/>
                  </a:lnTo>
                  <a:lnTo>
                    <a:pt x="259049" y="259061"/>
                  </a:lnTo>
                  <a:lnTo>
                    <a:pt x="0" y="0"/>
                  </a:lnTo>
                  <a:lnTo>
                    <a:pt x="1043247" y="0"/>
                  </a:lnTo>
                  <a:lnTo>
                    <a:pt x="1302322" y="259061"/>
                  </a:lnTo>
                  <a:lnTo>
                    <a:pt x="1043247" y="518111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32" name="object 32"/>
          <p:cNvSpPr txBox="1"/>
          <p:nvPr/>
        </p:nvSpPr>
        <p:spPr>
          <a:xfrm>
            <a:off x="4325828" y="2531329"/>
            <a:ext cx="936336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ru-RU" sz="1400" spc="-5" dirty="0">
                <a:solidFill>
                  <a:srgbClr val="FFFFFF"/>
                </a:solidFill>
                <a:latin typeface="Montserrat Medium" panose="00000600000000000000" pitchFamily="2" charset="-52"/>
                <a:cs typeface="Arial"/>
              </a:rPr>
              <a:t>Февраль</a:t>
            </a:r>
            <a:endParaRPr sz="1600" dirty="0">
              <a:latin typeface="Montserrat Medium" panose="00000600000000000000" pitchFamily="2" charset="-52"/>
              <a:cs typeface="Arial"/>
            </a:endParaRPr>
          </a:p>
        </p:txBody>
      </p:sp>
      <p:grpSp>
        <p:nvGrpSpPr>
          <p:cNvPr id="34" name="object 34"/>
          <p:cNvGrpSpPr/>
          <p:nvPr/>
        </p:nvGrpSpPr>
        <p:grpSpPr>
          <a:xfrm>
            <a:off x="4998915" y="2326515"/>
            <a:ext cx="1403985" cy="1471295"/>
            <a:chOff x="4998915" y="2326515"/>
            <a:chExt cx="1403985" cy="1471295"/>
          </a:xfrm>
        </p:grpSpPr>
        <p:sp>
          <p:nvSpPr>
            <p:cNvPr id="35" name="object 35"/>
            <p:cNvSpPr/>
            <p:nvPr/>
          </p:nvSpPr>
          <p:spPr>
            <a:xfrm>
              <a:off x="5597888" y="2972919"/>
              <a:ext cx="0" cy="774700"/>
            </a:xfrm>
            <a:custGeom>
              <a:avLst/>
              <a:gdLst/>
              <a:ahLst/>
              <a:cxnLst/>
              <a:rect l="l" t="t" r="r" b="b"/>
              <a:pathLst>
                <a:path h="774700">
                  <a:moveTo>
                    <a:pt x="0" y="0"/>
                  </a:moveTo>
                  <a:lnTo>
                    <a:pt x="0" y="774223"/>
                  </a:lnTo>
                </a:path>
              </a:pathLst>
            </a:custGeom>
            <a:ln w="9524">
              <a:solidFill>
                <a:srgbClr val="00938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5582013" y="3747142"/>
              <a:ext cx="31750" cy="45720"/>
            </a:xfrm>
            <a:custGeom>
              <a:avLst/>
              <a:gdLst/>
              <a:ahLst/>
              <a:cxnLst/>
              <a:rect l="l" t="t" r="r" b="b"/>
              <a:pathLst>
                <a:path w="31750" h="45720">
                  <a:moveTo>
                    <a:pt x="15874" y="45299"/>
                  </a:moveTo>
                  <a:lnTo>
                    <a:pt x="0" y="22649"/>
                  </a:lnTo>
                  <a:lnTo>
                    <a:pt x="15874" y="0"/>
                  </a:lnTo>
                  <a:lnTo>
                    <a:pt x="31724" y="22649"/>
                  </a:lnTo>
                  <a:lnTo>
                    <a:pt x="15874" y="45299"/>
                  </a:lnTo>
                  <a:close/>
                </a:path>
              </a:pathLst>
            </a:custGeom>
            <a:solidFill>
              <a:srgbClr val="00938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5582013" y="3747142"/>
              <a:ext cx="31750" cy="45720"/>
            </a:xfrm>
            <a:custGeom>
              <a:avLst/>
              <a:gdLst/>
              <a:ahLst/>
              <a:cxnLst/>
              <a:rect l="l" t="t" r="r" b="b"/>
              <a:pathLst>
                <a:path w="31750" h="45720">
                  <a:moveTo>
                    <a:pt x="15874" y="0"/>
                  </a:moveTo>
                  <a:lnTo>
                    <a:pt x="0" y="22649"/>
                  </a:lnTo>
                  <a:lnTo>
                    <a:pt x="15874" y="45299"/>
                  </a:lnTo>
                  <a:lnTo>
                    <a:pt x="31724" y="22649"/>
                  </a:lnTo>
                  <a:lnTo>
                    <a:pt x="15874" y="0"/>
                  </a:lnTo>
                  <a:close/>
                </a:path>
              </a:pathLst>
            </a:custGeom>
            <a:ln w="9524">
              <a:solidFill>
                <a:srgbClr val="00938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4998915" y="2326515"/>
              <a:ext cx="1403985" cy="720725"/>
            </a:xfrm>
            <a:custGeom>
              <a:avLst/>
              <a:gdLst/>
              <a:ahLst/>
              <a:cxnLst/>
              <a:rect l="l" t="t" r="r" b="b"/>
              <a:pathLst>
                <a:path w="1403985" h="720725">
                  <a:moveTo>
                    <a:pt x="1043322" y="720103"/>
                  </a:moveTo>
                  <a:lnTo>
                    <a:pt x="0" y="720103"/>
                  </a:lnTo>
                  <a:lnTo>
                    <a:pt x="360049" y="360054"/>
                  </a:lnTo>
                  <a:lnTo>
                    <a:pt x="0" y="0"/>
                  </a:lnTo>
                  <a:lnTo>
                    <a:pt x="1043322" y="0"/>
                  </a:lnTo>
                  <a:lnTo>
                    <a:pt x="1403372" y="360054"/>
                  </a:lnTo>
                  <a:lnTo>
                    <a:pt x="1043322" y="720103"/>
                  </a:lnTo>
                  <a:close/>
                </a:path>
              </a:pathLst>
            </a:custGeom>
            <a:solidFill>
              <a:srgbClr val="002F4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5099864" y="2427457"/>
              <a:ext cx="1302385" cy="518159"/>
            </a:xfrm>
            <a:custGeom>
              <a:avLst/>
              <a:gdLst/>
              <a:ahLst/>
              <a:cxnLst/>
              <a:rect l="l" t="t" r="r" b="b"/>
              <a:pathLst>
                <a:path w="1302385" h="518160">
                  <a:moveTo>
                    <a:pt x="1043247" y="518111"/>
                  </a:moveTo>
                  <a:lnTo>
                    <a:pt x="0" y="518111"/>
                  </a:lnTo>
                  <a:lnTo>
                    <a:pt x="259049" y="259061"/>
                  </a:lnTo>
                  <a:lnTo>
                    <a:pt x="0" y="0"/>
                  </a:lnTo>
                  <a:lnTo>
                    <a:pt x="1043247" y="0"/>
                  </a:lnTo>
                  <a:lnTo>
                    <a:pt x="1302322" y="259061"/>
                  </a:lnTo>
                  <a:lnTo>
                    <a:pt x="1043247" y="518111"/>
                  </a:lnTo>
                  <a:close/>
                </a:path>
              </a:pathLst>
            </a:custGeom>
            <a:solidFill>
              <a:srgbClr val="31384D">
                <a:alpha val="2470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0" name="object 40"/>
          <p:cNvSpPr txBox="1"/>
          <p:nvPr/>
        </p:nvSpPr>
        <p:spPr>
          <a:xfrm>
            <a:off x="5474220" y="2525507"/>
            <a:ext cx="636270" cy="2590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ru-RU" sz="1600" spc="-5" dirty="0">
                <a:solidFill>
                  <a:srgbClr val="FFFFFF"/>
                </a:solidFill>
                <a:latin typeface="Montserrat Medium" panose="00000600000000000000" pitchFamily="2" charset="-52"/>
                <a:cs typeface="Arial"/>
              </a:rPr>
              <a:t>Март</a:t>
            </a:r>
            <a:endParaRPr sz="1600" dirty="0">
              <a:latin typeface="Montserrat Medium" panose="00000600000000000000" pitchFamily="2" charset="-52"/>
              <a:cs typeface="Arial"/>
            </a:endParaRPr>
          </a:p>
        </p:txBody>
      </p:sp>
      <p:grpSp>
        <p:nvGrpSpPr>
          <p:cNvPr id="42" name="object 42"/>
          <p:cNvGrpSpPr/>
          <p:nvPr/>
        </p:nvGrpSpPr>
        <p:grpSpPr>
          <a:xfrm>
            <a:off x="6085912" y="1538484"/>
            <a:ext cx="1697989" cy="1508760"/>
            <a:chOff x="6085912" y="1538484"/>
            <a:chExt cx="1697989" cy="1508760"/>
          </a:xfrm>
          <a:solidFill>
            <a:schemeClr val="bg1">
              <a:lumMod val="75000"/>
            </a:schemeClr>
          </a:solidFill>
        </p:grpSpPr>
        <p:sp>
          <p:nvSpPr>
            <p:cNvPr id="43" name="object 43"/>
            <p:cNvSpPr/>
            <p:nvPr/>
          </p:nvSpPr>
          <p:spPr>
            <a:xfrm>
              <a:off x="6810586" y="1588554"/>
              <a:ext cx="0" cy="774700"/>
            </a:xfrm>
            <a:custGeom>
              <a:avLst/>
              <a:gdLst/>
              <a:ahLst/>
              <a:cxnLst/>
              <a:rect l="l" t="t" r="r" b="b"/>
              <a:pathLst>
                <a:path h="774700">
                  <a:moveTo>
                    <a:pt x="0" y="774225"/>
                  </a:moveTo>
                  <a:lnTo>
                    <a:pt x="0" y="0"/>
                  </a:lnTo>
                </a:path>
              </a:pathLst>
            </a:custGeom>
            <a:grpFill/>
            <a:ln w="9524">
              <a:solidFill>
                <a:srgbClr val="00938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6794711" y="1543246"/>
              <a:ext cx="31750" cy="45720"/>
            </a:xfrm>
            <a:custGeom>
              <a:avLst/>
              <a:gdLst/>
              <a:ahLst/>
              <a:cxnLst/>
              <a:rect l="l" t="t" r="r" b="b"/>
              <a:pathLst>
                <a:path w="31750" h="45719">
                  <a:moveTo>
                    <a:pt x="15874" y="45307"/>
                  </a:moveTo>
                  <a:lnTo>
                    <a:pt x="0" y="22652"/>
                  </a:lnTo>
                  <a:lnTo>
                    <a:pt x="15874" y="0"/>
                  </a:lnTo>
                  <a:lnTo>
                    <a:pt x="31724" y="22652"/>
                  </a:lnTo>
                  <a:lnTo>
                    <a:pt x="15874" y="45307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6794711" y="1543246"/>
              <a:ext cx="31750" cy="45720"/>
            </a:xfrm>
            <a:custGeom>
              <a:avLst/>
              <a:gdLst/>
              <a:ahLst/>
              <a:cxnLst/>
              <a:rect l="l" t="t" r="r" b="b"/>
              <a:pathLst>
                <a:path w="31750" h="45719">
                  <a:moveTo>
                    <a:pt x="15874" y="45307"/>
                  </a:moveTo>
                  <a:lnTo>
                    <a:pt x="31724" y="22652"/>
                  </a:lnTo>
                  <a:lnTo>
                    <a:pt x="15874" y="0"/>
                  </a:lnTo>
                  <a:lnTo>
                    <a:pt x="0" y="22652"/>
                  </a:lnTo>
                  <a:lnTo>
                    <a:pt x="15874" y="45307"/>
                  </a:lnTo>
                  <a:close/>
                </a:path>
              </a:pathLst>
            </a:custGeom>
            <a:grpFill/>
            <a:ln w="9524">
              <a:solidFill>
                <a:srgbClr val="00938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6085912" y="2326520"/>
              <a:ext cx="1697989" cy="720725"/>
            </a:xfrm>
            <a:custGeom>
              <a:avLst/>
              <a:gdLst/>
              <a:ahLst/>
              <a:cxnLst/>
              <a:rect l="l" t="t" r="r" b="b"/>
              <a:pathLst>
                <a:path w="1697990" h="720725">
                  <a:moveTo>
                    <a:pt x="1337822" y="720098"/>
                  </a:moveTo>
                  <a:lnTo>
                    <a:pt x="0" y="720098"/>
                  </a:lnTo>
                  <a:lnTo>
                    <a:pt x="360049" y="360049"/>
                  </a:lnTo>
                  <a:lnTo>
                    <a:pt x="0" y="0"/>
                  </a:lnTo>
                  <a:lnTo>
                    <a:pt x="1337822" y="0"/>
                  </a:lnTo>
                  <a:lnTo>
                    <a:pt x="1697871" y="360049"/>
                  </a:lnTo>
                  <a:lnTo>
                    <a:pt x="1337822" y="720098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6208062" y="2427462"/>
              <a:ext cx="1576070" cy="518159"/>
            </a:xfrm>
            <a:custGeom>
              <a:avLst/>
              <a:gdLst/>
              <a:ahLst/>
              <a:cxnLst/>
              <a:rect l="l" t="t" r="r" b="b"/>
              <a:pathLst>
                <a:path w="1576070" h="518160">
                  <a:moveTo>
                    <a:pt x="1262172" y="518106"/>
                  </a:moveTo>
                  <a:lnTo>
                    <a:pt x="0" y="518106"/>
                  </a:lnTo>
                  <a:lnTo>
                    <a:pt x="313399" y="259056"/>
                  </a:lnTo>
                  <a:lnTo>
                    <a:pt x="0" y="0"/>
                  </a:lnTo>
                  <a:lnTo>
                    <a:pt x="1262172" y="0"/>
                  </a:lnTo>
                  <a:lnTo>
                    <a:pt x="1575571" y="259056"/>
                  </a:lnTo>
                  <a:lnTo>
                    <a:pt x="1262172" y="518106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8" name="object 48"/>
          <p:cNvSpPr txBox="1"/>
          <p:nvPr/>
        </p:nvSpPr>
        <p:spPr>
          <a:xfrm>
            <a:off x="6650834" y="2537985"/>
            <a:ext cx="850306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ru-RU" sz="1400" spc="-5" dirty="0">
                <a:solidFill>
                  <a:srgbClr val="FFFFFF"/>
                </a:solidFill>
                <a:latin typeface="Montserrat Medium" panose="00000600000000000000" pitchFamily="2" charset="-52"/>
                <a:cs typeface="Arial"/>
              </a:rPr>
              <a:t>Апрель</a:t>
            </a:r>
            <a:endParaRPr sz="1400" dirty="0">
              <a:latin typeface="Montserrat Medium" panose="00000600000000000000" pitchFamily="2" charset="-52"/>
              <a:cs typeface="Arial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8749626" y="4762426"/>
            <a:ext cx="224154" cy="1873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43180">
              <a:lnSpc>
                <a:spcPct val="100000"/>
              </a:lnSpc>
              <a:spcBef>
                <a:spcPts val="125"/>
              </a:spcBef>
            </a:pPr>
            <a:fld id="{81D60167-4931-47E6-BA6A-407CBD079E47}" type="slidenum">
              <a:rPr lang="en-US" sz="1000" spc="-5" smtClean="0">
                <a:solidFill>
                  <a:srgbClr val="666666"/>
                </a:solidFill>
                <a:latin typeface="Roboto"/>
                <a:cs typeface="Roboto"/>
              </a:rPr>
              <a:t>9</a:t>
            </a:fld>
            <a:endParaRPr lang="en-US" sz="1000" dirty="0">
              <a:latin typeface="Roboto"/>
              <a:cs typeface="Roboto"/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14B2A8FD-43E2-4262-83E7-580391BDCD79}"/>
              </a:ext>
            </a:extLst>
          </p:cNvPr>
          <p:cNvSpPr txBox="1"/>
          <p:nvPr/>
        </p:nvSpPr>
        <p:spPr>
          <a:xfrm>
            <a:off x="367093" y="3940407"/>
            <a:ext cx="1766027" cy="7463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18135" marR="99060" indent="-211454" algn="ctr">
              <a:lnSpc>
                <a:spcPts val="1650"/>
              </a:lnSpc>
              <a:spcBef>
                <a:spcPts val="275"/>
              </a:spcBef>
            </a:pPr>
            <a:r>
              <a:rPr lang="ru-RU" sz="1600" spc="-5" dirty="0">
                <a:solidFill>
                  <a:srgbClr val="31384D"/>
                </a:solidFill>
                <a:latin typeface="Montserrat Medium" panose="00000600000000000000" pitchFamily="2" charset="-52"/>
                <a:cs typeface="Times New Roman"/>
              </a:rPr>
              <a:t>Идея</a:t>
            </a:r>
            <a:r>
              <a:rPr lang="ru-RU" sz="1600" spc="-85" dirty="0">
                <a:solidFill>
                  <a:srgbClr val="31384D"/>
                </a:solidFill>
                <a:latin typeface="Montserrat Medium" panose="00000600000000000000" pitchFamily="2" charset="-52"/>
                <a:cs typeface="Times New Roman"/>
              </a:rPr>
              <a:t> </a:t>
            </a:r>
            <a:r>
              <a:rPr lang="ru-RU" sz="1600" spc="-5" dirty="0" err="1">
                <a:solidFill>
                  <a:srgbClr val="31384D"/>
                </a:solidFill>
                <a:latin typeface="Montserrat Medium" panose="00000600000000000000" pitchFamily="2" charset="-52"/>
                <a:cs typeface="Times New Roman"/>
              </a:rPr>
              <a:t>Питчинга</a:t>
            </a:r>
            <a:r>
              <a:rPr lang="ru-RU" sz="1600" spc="-5" dirty="0">
                <a:solidFill>
                  <a:srgbClr val="31384D"/>
                </a:solidFill>
                <a:latin typeface="Montserrat Medium" panose="00000600000000000000" pitchFamily="2" charset="-52"/>
                <a:cs typeface="Times New Roman"/>
              </a:rPr>
              <a:t>  </a:t>
            </a:r>
            <a:r>
              <a:rPr lang="ru-RU" sz="1600" spc="-10" dirty="0">
                <a:solidFill>
                  <a:srgbClr val="31384D"/>
                </a:solidFill>
                <a:latin typeface="Montserrat Medium" panose="00000600000000000000" pitchFamily="2" charset="-52"/>
                <a:cs typeface="Times New Roman"/>
              </a:rPr>
              <a:t>Прототип</a:t>
            </a:r>
            <a:r>
              <a:rPr lang="en-US" sz="1600" spc="-10" dirty="0">
                <a:solidFill>
                  <a:srgbClr val="31384D"/>
                </a:solidFill>
                <a:latin typeface="Montserrat Medium" panose="00000600000000000000" pitchFamily="2" charset="-52"/>
                <a:cs typeface="Times New Roman"/>
              </a:rPr>
              <a:t>.</a:t>
            </a:r>
            <a:endParaRPr lang="ru-RU" sz="1600" dirty="0">
              <a:latin typeface="Montserrat Medium" panose="00000600000000000000" pitchFamily="2" charset="-52"/>
              <a:cs typeface="Times New Roman"/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57B6D396-7CE5-420F-87D7-EF6343409346}"/>
              </a:ext>
            </a:extLst>
          </p:cNvPr>
          <p:cNvSpPr txBox="1"/>
          <p:nvPr/>
        </p:nvSpPr>
        <p:spPr>
          <a:xfrm>
            <a:off x="2509530" y="4048129"/>
            <a:ext cx="1874413" cy="5309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2390" marR="65405" indent="175895" algn="ctr">
              <a:lnSpc>
                <a:spcPts val="1650"/>
              </a:lnSpc>
              <a:spcBef>
                <a:spcPts val="280"/>
              </a:spcBef>
            </a:pPr>
            <a:r>
              <a:rPr lang="ru-RU" sz="1600" spc="-10" dirty="0">
                <a:solidFill>
                  <a:srgbClr val="31384D"/>
                </a:solidFill>
                <a:latin typeface="Montserrat Medium" panose="00000600000000000000" pitchFamily="2" charset="-52"/>
                <a:cs typeface="Times New Roman"/>
              </a:rPr>
              <a:t>Расширение    базы данных</a:t>
            </a:r>
            <a:r>
              <a:rPr lang="en-US" sz="1600" spc="-10" dirty="0">
                <a:solidFill>
                  <a:srgbClr val="31384D"/>
                </a:solidFill>
                <a:latin typeface="Montserrat Medium" panose="00000600000000000000" pitchFamily="2" charset="-52"/>
                <a:cs typeface="Times New Roman"/>
              </a:rPr>
              <a:t>.</a:t>
            </a:r>
            <a:endParaRPr lang="ru-RU" sz="1600" dirty="0">
              <a:latin typeface="Montserrat Medium" panose="00000600000000000000" pitchFamily="2" charset="-52"/>
              <a:cs typeface="Times New Roman"/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4A149112-1518-47AC-B564-D38A09E30B13}"/>
              </a:ext>
            </a:extLst>
          </p:cNvPr>
          <p:cNvSpPr txBox="1"/>
          <p:nvPr/>
        </p:nvSpPr>
        <p:spPr>
          <a:xfrm>
            <a:off x="4897947" y="4021200"/>
            <a:ext cx="143163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1600" dirty="0">
                <a:latin typeface="Montserrat Medium" panose="00000600000000000000" pitchFamily="2" charset="-52"/>
              </a:rPr>
              <a:t>Улучшение  решения</a:t>
            </a:r>
            <a:r>
              <a:rPr lang="en-US" sz="1600" dirty="0">
                <a:latin typeface="Montserrat Medium" panose="00000600000000000000" pitchFamily="2" charset="-52"/>
              </a:rPr>
              <a:t>.</a:t>
            </a:r>
            <a:endParaRPr lang="ru-RU" sz="1600" dirty="0">
              <a:latin typeface="Montserrat Medium" panose="00000600000000000000" pitchFamily="2" charset="-52"/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232FE2BF-23CE-462F-8266-53CD54DBA9A9}"/>
              </a:ext>
            </a:extLst>
          </p:cNvPr>
          <p:cNvSpPr txBox="1"/>
          <p:nvPr/>
        </p:nvSpPr>
        <p:spPr>
          <a:xfrm>
            <a:off x="5916397" y="986666"/>
            <a:ext cx="182231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1600" dirty="0">
                <a:latin typeface="Montserrat Medium" panose="00000600000000000000" pitchFamily="2" charset="-52"/>
              </a:rPr>
              <a:t>Тестирование</a:t>
            </a:r>
            <a:r>
              <a:rPr lang="en-US" sz="1600" dirty="0">
                <a:latin typeface="Montserrat Medium" panose="00000600000000000000" pitchFamily="2" charset="-52"/>
              </a:rPr>
              <a:t>.</a:t>
            </a:r>
            <a:endParaRPr lang="en-US" sz="1700" dirty="0">
              <a:latin typeface="Montserrat Medium" panose="00000600000000000000" pitchFamily="2" charset="-52"/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55430413-40E7-4597-8E90-9FD028EF5E71}"/>
              </a:ext>
            </a:extLst>
          </p:cNvPr>
          <p:cNvSpPr txBox="1"/>
          <p:nvPr/>
        </p:nvSpPr>
        <p:spPr>
          <a:xfrm>
            <a:off x="3814842" y="720912"/>
            <a:ext cx="1392195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1600" dirty="0">
                <a:latin typeface="Montserrat Medium" panose="00000600000000000000" pitchFamily="2" charset="-52"/>
              </a:rPr>
              <a:t>Доработка над дизайном</a:t>
            </a:r>
            <a:r>
              <a:rPr lang="en-US" sz="1600" dirty="0">
                <a:latin typeface="Montserrat Medium" panose="00000600000000000000" pitchFamily="2" charset="-52"/>
              </a:rPr>
              <a:t>.</a:t>
            </a:r>
            <a:endParaRPr lang="ru-RU" sz="1600" dirty="0">
              <a:latin typeface="Montserrat Medium" panose="00000600000000000000" pitchFamily="2" charset="-52"/>
            </a:endParaRP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E920FC9A-439B-41EE-B536-BF29D0978EBA}"/>
              </a:ext>
            </a:extLst>
          </p:cNvPr>
          <p:cNvSpPr txBox="1"/>
          <p:nvPr/>
        </p:nvSpPr>
        <p:spPr>
          <a:xfrm>
            <a:off x="1429893" y="709046"/>
            <a:ext cx="1837439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1600" dirty="0">
                <a:latin typeface="Montserrat Medium" panose="00000600000000000000" pitchFamily="2" charset="-52"/>
              </a:rPr>
              <a:t>Добавление  новых функций</a:t>
            </a:r>
            <a:r>
              <a:rPr lang="en-US" sz="1600" dirty="0">
                <a:latin typeface="Montserrat Medium" panose="00000600000000000000" pitchFamily="2" charset="-52"/>
              </a:rPr>
              <a:t>.</a:t>
            </a:r>
            <a:endParaRPr lang="ru-RU" sz="1600" dirty="0">
              <a:latin typeface="Montserrat Medium" panose="00000600000000000000" pitchFamily="2" charset="-5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Tm="6129"/>
    </mc:Choice>
    <mc:Fallback>
      <p:transition advTm="6129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Прямоугольник: скругленные углы 19">
            <a:extLst>
              <a:ext uri="{FF2B5EF4-FFF2-40B4-BE49-F238E27FC236}">
                <a16:creationId xmlns:a16="http://schemas.microsoft.com/office/drawing/2014/main" id="{F06B2EEF-82E4-4D2A-A180-7337462A5F91}"/>
              </a:ext>
            </a:extLst>
          </p:cNvPr>
          <p:cNvSpPr/>
          <p:nvPr/>
        </p:nvSpPr>
        <p:spPr>
          <a:xfrm>
            <a:off x="761727" y="3181350"/>
            <a:ext cx="2349675" cy="1417231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Заголовок 11">
            <a:extLst>
              <a:ext uri="{FF2B5EF4-FFF2-40B4-BE49-F238E27FC236}">
                <a16:creationId xmlns:a16="http://schemas.microsoft.com/office/drawing/2014/main" id="{0B62B52E-2796-4E6B-B40E-2F97D23372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24526" y="94711"/>
            <a:ext cx="4294947" cy="492443"/>
          </a:xfrm>
        </p:spPr>
        <p:txBody>
          <a:bodyPr/>
          <a:lstStyle/>
          <a:p>
            <a:r>
              <a:rPr lang="ru-RU" sz="3200" dirty="0">
                <a:latin typeface="Montserrat Medium" panose="00000600000000000000" pitchFamily="2" charset="-52"/>
              </a:rPr>
              <a:t>Планы на будущее</a:t>
            </a:r>
            <a:endParaRPr lang="en-US" sz="3200" dirty="0">
              <a:latin typeface="Montserrat Medium" panose="00000600000000000000" pitchFamily="2" charset="-52"/>
            </a:endParaRPr>
          </a:p>
        </p:txBody>
      </p:sp>
      <p:sp>
        <p:nvSpPr>
          <p:cNvPr id="14" name="Прямоугольник: скругленные углы 13">
            <a:extLst>
              <a:ext uri="{FF2B5EF4-FFF2-40B4-BE49-F238E27FC236}">
                <a16:creationId xmlns:a16="http://schemas.microsoft.com/office/drawing/2014/main" id="{80C8D867-443C-421F-B97D-5500DB6EF1E5}"/>
              </a:ext>
            </a:extLst>
          </p:cNvPr>
          <p:cNvSpPr/>
          <p:nvPr/>
        </p:nvSpPr>
        <p:spPr>
          <a:xfrm>
            <a:off x="3434773" y="2114550"/>
            <a:ext cx="2058989" cy="1220535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bject 6">
            <a:extLst>
              <a:ext uri="{FF2B5EF4-FFF2-40B4-BE49-F238E27FC236}">
                <a16:creationId xmlns:a16="http://schemas.microsoft.com/office/drawing/2014/main" id="{05EF2AB7-D5E8-4BFE-B58C-21BE9639366B}"/>
              </a:ext>
            </a:extLst>
          </p:cNvPr>
          <p:cNvSpPr txBox="1"/>
          <p:nvPr/>
        </p:nvSpPr>
        <p:spPr>
          <a:xfrm>
            <a:off x="3520055" y="2141324"/>
            <a:ext cx="1806774" cy="116698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ru-RU" sz="1500" dirty="0">
                <a:latin typeface="Montserrat Medium" panose="00000600000000000000" pitchFamily="2" charset="-52"/>
                <a:cs typeface="Arial"/>
              </a:rPr>
              <a:t>Интеграции локальных компаний для развития проекта</a:t>
            </a:r>
            <a:r>
              <a:rPr lang="en-US" sz="1500" dirty="0">
                <a:latin typeface="Montserrat Medium" panose="00000600000000000000" pitchFamily="2" charset="-52"/>
                <a:cs typeface="Arial"/>
              </a:rPr>
              <a:t>.</a:t>
            </a:r>
            <a:endParaRPr sz="1500" dirty="0">
              <a:latin typeface="Montserrat Medium" panose="00000600000000000000" pitchFamily="2" charset="-52"/>
              <a:cs typeface="Arial"/>
            </a:endParaRPr>
          </a:p>
        </p:txBody>
      </p:sp>
      <p:sp>
        <p:nvSpPr>
          <p:cNvPr id="16" name="Прямоугольник: скругленные углы 15">
            <a:extLst>
              <a:ext uri="{FF2B5EF4-FFF2-40B4-BE49-F238E27FC236}">
                <a16:creationId xmlns:a16="http://schemas.microsoft.com/office/drawing/2014/main" id="{C3DA7658-8452-4949-9B8C-D43F90443F72}"/>
              </a:ext>
            </a:extLst>
          </p:cNvPr>
          <p:cNvSpPr/>
          <p:nvPr/>
        </p:nvSpPr>
        <p:spPr>
          <a:xfrm>
            <a:off x="5427916" y="3710685"/>
            <a:ext cx="2286000" cy="1220535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bject 6">
            <a:extLst>
              <a:ext uri="{FF2B5EF4-FFF2-40B4-BE49-F238E27FC236}">
                <a16:creationId xmlns:a16="http://schemas.microsoft.com/office/drawing/2014/main" id="{5E0958D7-3F9E-446C-BF6A-28AABF5ED158}"/>
              </a:ext>
            </a:extLst>
          </p:cNvPr>
          <p:cNvSpPr txBox="1"/>
          <p:nvPr/>
        </p:nvSpPr>
        <p:spPr>
          <a:xfrm>
            <a:off x="923644" y="3191055"/>
            <a:ext cx="2025839" cy="139781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ru-RU" sz="1500" spc="-10" dirty="0">
                <a:latin typeface="Montserrat Medium" panose="00000600000000000000" pitchFamily="2" charset="-52"/>
                <a:cs typeface="Arial"/>
              </a:rPr>
              <a:t>Начать работать с корпорациями чтобы искать финансирование для проектов ученых</a:t>
            </a:r>
            <a:r>
              <a:rPr lang="en-US" sz="1500" spc="-10" dirty="0">
                <a:latin typeface="Montserrat Medium" panose="00000600000000000000" pitchFamily="2" charset="-52"/>
                <a:cs typeface="Arial"/>
              </a:rPr>
              <a:t>.</a:t>
            </a:r>
            <a:endParaRPr sz="1500" dirty="0">
              <a:latin typeface="Montserrat Medium" panose="00000600000000000000" pitchFamily="2" charset="-52"/>
              <a:cs typeface="Arial"/>
            </a:endParaRPr>
          </a:p>
        </p:txBody>
      </p:sp>
      <p:sp>
        <p:nvSpPr>
          <p:cNvPr id="18" name="Прямоугольник: скругленные углы 17">
            <a:extLst>
              <a:ext uri="{FF2B5EF4-FFF2-40B4-BE49-F238E27FC236}">
                <a16:creationId xmlns:a16="http://schemas.microsoft.com/office/drawing/2014/main" id="{41723179-E1D1-4D26-BE24-4528721681CB}"/>
              </a:ext>
            </a:extLst>
          </p:cNvPr>
          <p:cNvSpPr/>
          <p:nvPr/>
        </p:nvSpPr>
        <p:spPr>
          <a:xfrm>
            <a:off x="502032" y="1670134"/>
            <a:ext cx="2286000" cy="114300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bject 6">
            <a:extLst>
              <a:ext uri="{FF2B5EF4-FFF2-40B4-BE49-F238E27FC236}">
                <a16:creationId xmlns:a16="http://schemas.microsoft.com/office/drawing/2014/main" id="{9AB5CE42-4815-4DC9-8F3C-733BAF0DD9AE}"/>
              </a:ext>
            </a:extLst>
          </p:cNvPr>
          <p:cNvSpPr txBox="1"/>
          <p:nvPr/>
        </p:nvSpPr>
        <p:spPr>
          <a:xfrm>
            <a:off x="658317" y="1742779"/>
            <a:ext cx="1977702" cy="99770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ru-RU" sz="1600" spc="-10" dirty="0">
                <a:latin typeface="Montserrat Medium" panose="00000600000000000000" pitchFamily="2" charset="-52"/>
                <a:cs typeface="Arial"/>
              </a:rPr>
              <a:t>Популяризация сайта на международном уровне</a:t>
            </a:r>
            <a:r>
              <a:rPr lang="en-US" sz="1600" spc="-10" dirty="0">
                <a:latin typeface="Montserrat Medium" panose="00000600000000000000" pitchFamily="2" charset="-52"/>
                <a:cs typeface="Arial"/>
              </a:rPr>
              <a:t>.</a:t>
            </a:r>
            <a:endParaRPr sz="1600" dirty="0">
              <a:latin typeface="Montserrat Medium" panose="00000600000000000000" pitchFamily="2" charset="-52"/>
              <a:cs typeface="Arial"/>
            </a:endParaRPr>
          </a:p>
        </p:txBody>
      </p:sp>
      <p:sp>
        <p:nvSpPr>
          <p:cNvPr id="21" name="object 6">
            <a:extLst>
              <a:ext uri="{FF2B5EF4-FFF2-40B4-BE49-F238E27FC236}">
                <a16:creationId xmlns:a16="http://schemas.microsoft.com/office/drawing/2014/main" id="{48E42E86-49A9-460D-9D1A-82A3155EFD73}"/>
              </a:ext>
            </a:extLst>
          </p:cNvPr>
          <p:cNvSpPr txBox="1"/>
          <p:nvPr/>
        </p:nvSpPr>
        <p:spPr>
          <a:xfrm>
            <a:off x="5618416" y="3710685"/>
            <a:ext cx="1905000" cy="116698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ru-RU" sz="1500" spc="-10" dirty="0">
                <a:latin typeface="Montserrat Medium" panose="00000600000000000000" pitchFamily="2" charset="-52"/>
                <a:cs typeface="Arial"/>
              </a:rPr>
              <a:t>Расширение функционала сайта через предложения ученых</a:t>
            </a:r>
            <a:r>
              <a:rPr lang="en-US" sz="1500" spc="-10" dirty="0">
                <a:latin typeface="Montserrat Medium" panose="00000600000000000000" pitchFamily="2" charset="-52"/>
                <a:cs typeface="Arial"/>
              </a:rPr>
              <a:t>.</a:t>
            </a:r>
          </a:p>
        </p:txBody>
      </p:sp>
      <p:pic>
        <p:nvPicPr>
          <p:cNvPr id="26" name="Рисунок 25">
            <a:extLst>
              <a:ext uri="{FF2B5EF4-FFF2-40B4-BE49-F238E27FC236}">
                <a16:creationId xmlns:a16="http://schemas.microsoft.com/office/drawing/2014/main" id="{073EB378-6C7D-44A5-A667-1F9CE2D9C86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45776" y="937220"/>
            <a:ext cx="3210542" cy="2146782"/>
          </a:xfrm>
          <a:prstGeom prst="rect">
            <a:avLst/>
          </a:prstGeom>
        </p:spPr>
      </p:pic>
      <p:sp>
        <p:nvSpPr>
          <p:cNvPr id="13" name="object 51">
            <a:extLst>
              <a:ext uri="{FF2B5EF4-FFF2-40B4-BE49-F238E27FC236}">
                <a16:creationId xmlns:a16="http://schemas.microsoft.com/office/drawing/2014/main" id="{388CA545-3B72-4896-96E0-BFAA9D78F864}"/>
              </a:ext>
            </a:extLst>
          </p:cNvPr>
          <p:cNvSpPr txBox="1"/>
          <p:nvPr/>
        </p:nvSpPr>
        <p:spPr>
          <a:xfrm>
            <a:off x="8749626" y="4762426"/>
            <a:ext cx="224154" cy="1873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43180">
              <a:lnSpc>
                <a:spcPct val="100000"/>
              </a:lnSpc>
              <a:spcBef>
                <a:spcPts val="125"/>
              </a:spcBef>
            </a:pPr>
            <a:fld id="{81D60167-4931-47E6-BA6A-407CBD079E47}" type="slidenum">
              <a:rPr lang="en-US" sz="1000" spc="-5" smtClean="0">
                <a:solidFill>
                  <a:srgbClr val="666666"/>
                </a:solidFill>
                <a:latin typeface="Roboto"/>
                <a:cs typeface="Roboto"/>
              </a:rPr>
              <a:t>10</a:t>
            </a:fld>
            <a:endParaRPr lang="en-US" sz="1000" dirty="0">
              <a:latin typeface="Roboto"/>
              <a:cs typeface="Roboto"/>
            </a:endParaRPr>
          </a:p>
        </p:txBody>
      </p:sp>
    </p:spTree>
    <p:extLst>
      <p:ext uri="{BB962C8B-B14F-4D97-AF65-F5344CB8AC3E}">
        <p14:creationId xmlns:p14="http://schemas.microsoft.com/office/powerpoint/2010/main" val="128880334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Tm="6129"/>
    </mc:Choice>
    <mc:Fallback>
      <p:transition advTm="6129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8791F9D-5257-4C18-99E6-C1831EE273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42558" y="310376"/>
            <a:ext cx="2803709" cy="415498"/>
          </a:xfrm>
        </p:spPr>
        <p:txBody>
          <a:bodyPr/>
          <a:lstStyle/>
          <a:p>
            <a:r>
              <a:rPr lang="ru-RU" dirty="0" err="1">
                <a:latin typeface="Montserrat Medium" panose="00000600000000000000" pitchFamily="2" charset="-52"/>
              </a:rPr>
              <a:t>Стэк</a:t>
            </a:r>
            <a:r>
              <a:rPr lang="ru-RU" dirty="0">
                <a:latin typeface="Montserrat Medium" panose="00000600000000000000" pitchFamily="2" charset="-52"/>
              </a:rPr>
              <a:t> решения</a:t>
            </a:r>
            <a:endParaRPr lang="en-US" dirty="0">
              <a:latin typeface="Montserrat Medium" panose="00000600000000000000" pitchFamily="2" charset="-52"/>
            </a:endParaRP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2DDE3529-771F-4D4C-9C4D-8033431099F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36800" y="1252265"/>
            <a:ext cx="2590800" cy="1399032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4AA0DB4D-2045-4CEC-A0EB-77C6C6BDCA4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00600" y="3038722"/>
            <a:ext cx="1142999" cy="911542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C75988CE-56CA-4712-8DC3-5DB015B377F6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526" y="1118925"/>
            <a:ext cx="1532372" cy="1532372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ACD3D4AB-64A6-4AB3-A577-9761BA4C16E1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49175" y="1380047"/>
            <a:ext cx="1777825" cy="1010128"/>
          </a:xfrm>
          <a:prstGeom prst="rect">
            <a:avLst/>
          </a:prstGeom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90023708-4C71-4C46-8830-06B534E36A61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98005" y="1401439"/>
            <a:ext cx="1988195" cy="1012679"/>
          </a:xfrm>
          <a:prstGeom prst="rect">
            <a:avLst/>
          </a:prstGeom>
        </p:spPr>
      </p:pic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E1B3EABB-8514-4C9F-B48A-715E394BDA89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1204" y="3106936"/>
            <a:ext cx="1988195" cy="912614"/>
          </a:xfrm>
          <a:prstGeom prst="rect">
            <a:avLst/>
          </a:prstGeom>
        </p:spPr>
      </p:pic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AB8AF0C6-924D-46F7-B5C5-96B731389AA7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2400" y="3015422"/>
            <a:ext cx="914400" cy="914400"/>
          </a:xfrm>
          <a:prstGeom prst="rect">
            <a:avLst/>
          </a:prstGeom>
        </p:spPr>
      </p:pic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34D6E195-9B69-4A77-8355-49FD9DFA63FA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53200" y="2938368"/>
            <a:ext cx="2209800" cy="1104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271810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Tm="6129"/>
    </mc:Choice>
    <mc:Fallback>
      <p:transition advTm="6129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3764915" cy="5143500"/>
          </a:xfrm>
          <a:custGeom>
            <a:avLst/>
            <a:gdLst/>
            <a:ahLst/>
            <a:cxnLst/>
            <a:rect l="l" t="t" r="r" b="b"/>
            <a:pathLst>
              <a:path w="3764915" h="5143500">
                <a:moveTo>
                  <a:pt x="3764392" y="5143489"/>
                </a:moveTo>
                <a:lnTo>
                  <a:pt x="0" y="5143489"/>
                </a:lnTo>
                <a:lnTo>
                  <a:pt x="0" y="0"/>
                </a:lnTo>
                <a:lnTo>
                  <a:pt x="3764392" y="0"/>
                </a:lnTo>
                <a:lnTo>
                  <a:pt x="3764392" y="5143489"/>
                </a:lnTo>
                <a:close/>
              </a:path>
            </a:pathLst>
          </a:custGeom>
          <a:solidFill>
            <a:srgbClr val="31384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471254" y="1831066"/>
            <a:ext cx="2822406" cy="1481368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algn="ctr">
              <a:lnSpc>
                <a:spcPct val="100800"/>
              </a:lnSpc>
              <a:spcBef>
                <a:spcPts val="95"/>
              </a:spcBef>
            </a:pPr>
            <a:r>
              <a:rPr sz="3200" spc="65" dirty="0">
                <a:solidFill>
                  <a:srgbClr val="FFFFFF"/>
                </a:solidFill>
                <a:latin typeface="Montserrat SemiBold" panose="00000700000000000000" pitchFamily="2" charset="-52"/>
                <a:cs typeface="Verdana"/>
              </a:rPr>
              <a:t>Благодарим</a:t>
            </a:r>
            <a:r>
              <a:rPr sz="3200" spc="-365" dirty="0">
                <a:solidFill>
                  <a:srgbClr val="FFFFFF"/>
                </a:solidFill>
                <a:latin typeface="Montserrat SemiBold" panose="00000700000000000000" pitchFamily="2" charset="-52"/>
                <a:cs typeface="Verdana"/>
              </a:rPr>
              <a:t> </a:t>
            </a:r>
            <a:r>
              <a:rPr sz="3200" spc="-5" dirty="0">
                <a:solidFill>
                  <a:srgbClr val="FFFFFF"/>
                </a:solidFill>
                <a:latin typeface="Montserrat SemiBold" panose="00000700000000000000" pitchFamily="2" charset="-52"/>
                <a:cs typeface="Verdana"/>
              </a:rPr>
              <a:t>вас  </a:t>
            </a:r>
            <a:r>
              <a:rPr sz="3200" spc="-20" dirty="0">
                <a:solidFill>
                  <a:srgbClr val="FFFFFF"/>
                </a:solidFill>
                <a:latin typeface="Montserrat SemiBold" panose="00000700000000000000" pitchFamily="2" charset="-52"/>
                <a:cs typeface="Verdana"/>
              </a:rPr>
              <a:t>за </a:t>
            </a:r>
            <a:r>
              <a:rPr sz="3200" spc="50" dirty="0">
                <a:solidFill>
                  <a:srgbClr val="FFFFFF"/>
                </a:solidFill>
                <a:latin typeface="Montserrat SemiBold" panose="00000700000000000000" pitchFamily="2" charset="-52"/>
                <a:cs typeface="Verdana"/>
              </a:rPr>
              <a:t>ваше  </a:t>
            </a:r>
            <a:r>
              <a:rPr sz="3200" spc="140" dirty="0">
                <a:solidFill>
                  <a:srgbClr val="FFFFFF"/>
                </a:solidFill>
                <a:latin typeface="Montserrat SemiBold" panose="00000700000000000000" pitchFamily="2" charset="-52"/>
                <a:cs typeface="Verdana"/>
              </a:rPr>
              <a:t>внимание!</a:t>
            </a:r>
            <a:endParaRPr sz="3200" dirty="0">
              <a:latin typeface="Montserrat SemiBold" panose="00000700000000000000" pitchFamily="2" charset="-52"/>
              <a:cs typeface="Verdan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780145" y="4766031"/>
            <a:ext cx="168275" cy="16671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1000" spc="-10" dirty="0">
                <a:solidFill>
                  <a:srgbClr val="666666"/>
                </a:solidFill>
                <a:latin typeface="Roboto"/>
                <a:cs typeface="Roboto"/>
              </a:rPr>
              <a:t>11</a:t>
            </a:r>
            <a:endParaRPr sz="1000" dirty="0">
              <a:latin typeface="Roboto"/>
              <a:cs typeface="Roboto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ctrTitle"/>
          </p:nvPr>
        </p:nvSpPr>
        <p:spPr>
          <a:xfrm>
            <a:off x="667918" y="1200150"/>
            <a:ext cx="7808164" cy="93615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798570">
              <a:lnSpc>
                <a:spcPct val="100000"/>
              </a:lnSpc>
              <a:spcBef>
                <a:spcPts val="100"/>
              </a:spcBef>
            </a:pPr>
            <a:r>
              <a:rPr lang="en-US" sz="3600" spc="-10" dirty="0">
                <a:latin typeface="Montserrat Black" panose="00000A00000000000000" pitchFamily="2" charset="-52"/>
              </a:rPr>
              <a:t>I-</a:t>
            </a:r>
            <a:r>
              <a:rPr lang="en-US" sz="3600" spc="-10" dirty="0" err="1">
                <a:latin typeface="Montserrat Black" panose="00000A00000000000000" pitchFamily="2" charset="-52"/>
              </a:rPr>
              <a:t>Talim</a:t>
            </a:r>
            <a:r>
              <a:rPr lang="ru-RU" spc="-10" dirty="0">
                <a:latin typeface="Montserrat Medium" panose="00000600000000000000" pitchFamily="2" charset="-52"/>
              </a:rPr>
              <a:t> – </a:t>
            </a:r>
            <a:r>
              <a:rPr lang="ru-RU" i="1" spc="-10" dirty="0">
                <a:latin typeface="Montserrat Medium" panose="00000600000000000000" pitchFamily="2" charset="-52"/>
              </a:rPr>
              <a:t>Объединяет все сферы науки!</a:t>
            </a:r>
            <a:endParaRPr i="1" spc="-10" dirty="0">
              <a:latin typeface="Montserrat Medium" panose="00000600000000000000" pitchFamily="2" charset="-52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B5C97AB-C9DC-495C-A8D1-CE982E5FC40D}"/>
              </a:ext>
            </a:extLst>
          </p:cNvPr>
          <p:cNvSpPr txBox="1"/>
          <p:nvPr/>
        </p:nvSpPr>
        <p:spPr>
          <a:xfrm>
            <a:off x="7517764" y="4664721"/>
            <a:ext cx="134651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>
                <a:latin typeface="Montserrat Medium" panose="00000600000000000000" pitchFamily="2" charset="-52"/>
              </a:rPr>
              <a:t>by</a:t>
            </a:r>
            <a:r>
              <a:rPr lang="en-US" dirty="0"/>
              <a:t> </a:t>
            </a:r>
            <a:r>
              <a:rPr lang="en-US" sz="1600" dirty="0">
                <a:latin typeface="Montserrat Medium" panose="00000600000000000000" pitchFamily="2" charset="-52"/>
              </a:rPr>
              <a:t>ASAFA</a:t>
            </a:r>
            <a:endParaRPr lang="en-US" sz="2400" dirty="0">
              <a:latin typeface="Montserrat Medium" panose="00000600000000000000" pitchFamily="2" charset="-5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Tm="6129"/>
    </mc:Choice>
    <mc:Fallback>
      <p:transition advTm="6129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789</TotalTime>
  <Words>292</Words>
  <Application>Microsoft Office PowerPoint</Application>
  <PresentationFormat>Экран (16:9)</PresentationFormat>
  <Paragraphs>69</Paragraphs>
  <Slides>12</Slides>
  <Notes>2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8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12</vt:i4>
      </vt:variant>
    </vt:vector>
  </HeadingPairs>
  <TitlesOfParts>
    <vt:vector size="21" baseType="lpstr">
      <vt:lpstr>Arial</vt:lpstr>
      <vt:lpstr>Calibri</vt:lpstr>
      <vt:lpstr>Montserrat</vt:lpstr>
      <vt:lpstr>Montserrat Black</vt:lpstr>
      <vt:lpstr>Montserrat Medium</vt:lpstr>
      <vt:lpstr>Montserrat SemiBold</vt:lpstr>
      <vt:lpstr>Roboto</vt:lpstr>
      <vt:lpstr>Verdana</vt:lpstr>
      <vt:lpstr>Office Theme</vt:lpstr>
      <vt:lpstr>Презентация PowerPoint</vt:lpstr>
      <vt:lpstr>Понимание  проблем</vt:lpstr>
      <vt:lpstr>Наша цель</vt:lpstr>
      <vt:lpstr>Представляем:   I-Talim</vt:lpstr>
      <vt:lpstr>Особенности нашего решения</vt:lpstr>
      <vt:lpstr>Презентация PowerPoint</vt:lpstr>
      <vt:lpstr>Доступ к разным направлениям наук</vt:lpstr>
      <vt:lpstr>Большое количество научных статей </vt:lpstr>
      <vt:lpstr>Сроки разработки продукта</vt:lpstr>
      <vt:lpstr>Планы на будущее</vt:lpstr>
      <vt:lpstr>Стэк решения</vt:lpstr>
      <vt:lpstr>I-Talim – Объединяет все сферы науки!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HP Victus</dc:creator>
  <cp:lastModifiedBy>gofurovferuz123@gmail.com</cp:lastModifiedBy>
  <cp:revision>58</cp:revision>
  <dcterms:created xsi:type="dcterms:W3CDTF">2023-11-11T09:24:09Z</dcterms:created>
  <dcterms:modified xsi:type="dcterms:W3CDTF">2023-11-12T07:32:25Z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or">
    <vt:lpwstr>Google</vt:lpwstr>
  </property>
  <property fmtid="{D5CDD505-2E9C-101B-9397-08002B2CF9AE}" pid="3" name="LastSaved">
    <vt:filetime>2023-11-11T00:00:00Z</vt:filetime>
  </property>
</Properties>
</file>